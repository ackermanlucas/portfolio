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Lst>
  <p:sldSz cx="7556500" cy="10693400"/>
  <p:notesSz cx="6858000" cy="9144000"/>
  <p:embeddedFontLst>
    <p:embeddedFont>
      <p:font typeface="Garet" panose="020B0604020202020204" charset="0"/>
      <p:regular r:id="rId4"/>
    </p:embeddedFont>
    <p:embeddedFont>
      <p:font typeface="Poppins" panose="00000500000000000000" pitchFamily="2" charset="0"/>
      <p:regular r:id="rId5"/>
    </p:embeddedFont>
    <p:embeddedFont>
      <p:font typeface="Poppins Bold" panose="00000800000000000000" charset="0"/>
      <p:regular r:id="rId6"/>
    </p:embeddedFont>
    <p:embeddedFont>
      <p:font typeface="Poppins Light" panose="00000400000000000000" pitchFamily="2" charset="0"/>
      <p:regular r:id="rId7"/>
    </p:embeddedFont>
    <p:embeddedFont>
      <p:font typeface="Poppins Medium" panose="00000600000000000000" pitchFamily="2" charset="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8" d="100"/>
          <a:sy n="38" d="100"/>
        </p:scale>
        <p:origin x="228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3" Type="http://schemas.openxmlformats.org/officeDocument/2006/relationships/slide" Target="slides/slide2.xml"/><Relationship Id="rId7" Type="http://schemas.openxmlformats.org/officeDocument/2006/relationships/font" Target="fonts/font4.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heme" Target="theme/theme1.xml"/><Relationship Id="rId5" Type="http://schemas.openxmlformats.org/officeDocument/2006/relationships/font" Target="fonts/font2.fntdata"/><Relationship Id="rId10"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image" Target="../media/image1.jpeg"/><Relationship Id="rId16"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88900"/>
            <a:ext cx="2911463" cy="10603100"/>
            <a:chOff x="0" y="0"/>
            <a:chExt cx="1043403" cy="3917469"/>
          </a:xfrm>
        </p:grpSpPr>
        <p:sp>
          <p:nvSpPr>
            <p:cNvPr id="3" name="Freeform 3"/>
            <p:cNvSpPr/>
            <p:nvPr/>
          </p:nvSpPr>
          <p:spPr>
            <a:xfrm>
              <a:off x="0" y="0"/>
              <a:ext cx="1043403" cy="3917469"/>
            </a:xfrm>
            <a:custGeom>
              <a:avLst/>
              <a:gdLst/>
              <a:ahLst/>
              <a:cxnLst/>
              <a:rect l="l" t="t" r="r" b="b"/>
              <a:pathLst>
                <a:path w="1043403" h="3917469">
                  <a:moveTo>
                    <a:pt x="0" y="0"/>
                  </a:moveTo>
                  <a:lnTo>
                    <a:pt x="1043403" y="0"/>
                  </a:lnTo>
                  <a:lnTo>
                    <a:pt x="1043403" y="3917469"/>
                  </a:lnTo>
                  <a:lnTo>
                    <a:pt x="0" y="3917469"/>
                  </a:lnTo>
                  <a:close/>
                </a:path>
              </a:pathLst>
            </a:custGeom>
            <a:solidFill>
              <a:srgbClr val="31323D"/>
            </a:solidFill>
          </p:spPr>
        </p:sp>
        <p:sp>
          <p:nvSpPr>
            <p:cNvPr id="4" name="TextBox 4"/>
            <p:cNvSpPr txBox="1"/>
            <p:nvPr/>
          </p:nvSpPr>
          <p:spPr>
            <a:xfrm>
              <a:off x="0" y="-47625"/>
              <a:ext cx="1043403" cy="3965094"/>
            </a:xfrm>
            <a:prstGeom prst="rect">
              <a:avLst/>
            </a:prstGeom>
          </p:spPr>
          <p:txBody>
            <a:bodyPr lIns="50800" tIns="50800" rIns="50800" bIns="50800" rtlCol="0" anchor="ctr"/>
            <a:lstStyle/>
            <a:p>
              <a:pPr algn="ctr">
                <a:lnSpc>
                  <a:spcPts val="2100"/>
                </a:lnSpc>
              </a:pPr>
              <a:endParaRPr/>
            </a:p>
          </p:txBody>
        </p:sp>
      </p:grpSp>
      <p:grpSp>
        <p:nvGrpSpPr>
          <p:cNvPr id="5" name="Group 5"/>
          <p:cNvGrpSpPr>
            <a:grpSpLocks noChangeAspect="1"/>
          </p:cNvGrpSpPr>
          <p:nvPr/>
        </p:nvGrpSpPr>
        <p:grpSpPr>
          <a:xfrm>
            <a:off x="-1" y="-3956"/>
            <a:ext cx="2911463" cy="3517653"/>
            <a:chOff x="0" y="0"/>
            <a:chExt cx="3454400" cy="4120604"/>
          </a:xfrm>
        </p:grpSpPr>
        <p:sp>
          <p:nvSpPr>
            <p:cNvPr id="6" name="Freeform 6"/>
            <p:cNvSpPr/>
            <p:nvPr/>
          </p:nvSpPr>
          <p:spPr>
            <a:xfrm>
              <a:off x="0" y="0"/>
              <a:ext cx="3454400" cy="4120515"/>
            </a:xfrm>
            <a:custGeom>
              <a:avLst/>
              <a:gdLst/>
              <a:ahLst/>
              <a:cxnLst/>
              <a:rect l="l" t="t" r="r" b="b"/>
              <a:pathLst>
                <a:path w="3454400" h="4120515">
                  <a:moveTo>
                    <a:pt x="0" y="0"/>
                  </a:moveTo>
                  <a:lnTo>
                    <a:pt x="0" y="3133598"/>
                  </a:lnTo>
                  <a:lnTo>
                    <a:pt x="3454400" y="4120515"/>
                  </a:lnTo>
                  <a:lnTo>
                    <a:pt x="3454400" y="0"/>
                  </a:lnTo>
                  <a:close/>
                </a:path>
              </a:pathLst>
            </a:custGeom>
            <a:blipFill>
              <a:blip r:embed="rId2"/>
              <a:stretch>
                <a:fillRect t="-3369" b="-3369"/>
              </a:stretch>
            </a:blipFill>
          </p:spPr>
        </p:sp>
      </p:grpSp>
      <p:sp>
        <p:nvSpPr>
          <p:cNvPr id="7" name="AutoShape 7"/>
          <p:cNvSpPr/>
          <p:nvPr/>
        </p:nvSpPr>
        <p:spPr>
          <a:xfrm flipH="1">
            <a:off x="3259888" y="5653338"/>
            <a:ext cx="1178" cy="2368583"/>
          </a:xfrm>
          <a:prstGeom prst="line">
            <a:avLst/>
          </a:prstGeom>
          <a:ln w="9525" cap="flat">
            <a:solidFill>
              <a:srgbClr val="323B4C"/>
            </a:solidFill>
            <a:prstDash val="solid"/>
            <a:headEnd type="none" w="sm" len="sm"/>
            <a:tailEnd type="none" w="sm" len="sm"/>
          </a:ln>
        </p:spPr>
      </p:sp>
      <p:sp>
        <p:nvSpPr>
          <p:cNvPr id="8" name="AutoShape 8"/>
          <p:cNvSpPr/>
          <p:nvPr/>
        </p:nvSpPr>
        <p:spPr>
          <a:xfrm flipH="1">
            <a:off x="3260477" y="4618758"/>
            <a:ext cx="1178" cy="2368583"/>
          </a:xfrm>
          <a:prstGeom prst="line">
            <a:avLst/>
          </a:prstGeom>
          <a:ln w="9525" cap="flat">
            <a:solidFill>
              <a:srgbClr val="323B4C"/>
            </a:solidFill>
            <a:prstDash val="solid"/>
            <a:headEnd type="none" w="sm" len="sm"/>
            <a:tailEnd type="none" w="sm" len="sm"/>
          </a:ln>
        </p:spPr>
      </p:sp>
      <p:grpSp>
        <p:nvGrpSpPr>
          <p:cNvPr id="9" name="Group 9"/>
          <p:cNvGrpSpPr>
            <a:grpSpLocks noChangeAspect="1"/>
          </p:cNvGrpSpPr>
          <p:nvPr/>
        </p:nvGrpSpPr>
        <p:grpSpPr>
          <a:xfrm>
            <a:off x="3209718" y="5636639"/>
            <a:ext cx="100341" cy="100341"/>
            <a:chOff x="0" y="0"/>
            <a:chExt cx="91491" cy="91491"/>
          </a:xfrm>
        </p:grpSpPr>
        <p:sp>
          <p:nvSpPr>
            <p:cNvPr id="10" name="Freeform 10"/>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grpSp>
        <p:nvGrpSpPr>
          <p:cNvPr id="11" name="Group 11"/>
          <p:cNvGrpSpPr>
            <a:grpSpLocks noChangeAspect="1"/>
          </p:cNvGrpSpPr>
          <p:nvPr/>
        </p:nvGrpSpPr>
        <p:grpSpPr>
          <a:xfrm>
            <a:off x="3209718" y="4518415"/>
            <a:ext cx="100341" cy="100341"/>
            <a:chOff x="0" y="0"/>
            <a:chExt cx="91491" cy="91491"/>
          </a:xfrm>
        </p:grpSpPr>
        <p:sp>
          <p:nvSpPr>
            <p:cNvPr id="12" name="Freeform 12"/>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grpSp>
        <p:nvGrpSpPr>
          <p:cNvPr id="13" name="Group 13"/>
          <p:cNvGrpSpPr>
            <a:grpSpLocks noChangeAspect="1"/>
          </p:cNvGrpSpPr>
          <p:nvPr/>
        </p:nvGrpSpPr>
        <p:grpSpPr>
          <a:xfrm>
            <a:off x="3226418" y="5653338"/>
            <a:ext cx="66941" cy="66941"/>
            <a:chOff x="0" y="0"/>
            <a:chExt cx="91491" cy="91491"/>
          </a:xfrm>
        </p:grpSpPr>
        <p:sp>
          <p:nvSpPr>
            <p:cNvPr id="14" name="Freeform 14"/>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FFFFFF"/>
            </a:solidFill>
          </p:spPr>
        </p:sp>
      </p:grpSp>
      <p:grpSp>
        <p:nvGrpSpPr>
          <p:cNvPr id="15" name="Group 15"/>
          <p:cNvGrpSpPr>
            <a:grpSpLocks noChangeAspect="1"/>
          </p:cNvGrpSpPr>
          <p:nvPr/>
        </p:nvGrpSpPr>
        <p:grpSpPr>
          <a:xfrm>
            <a:off x="3209718" y="6913299"/>
            <a:ext cx="100341" cy="100341"/>
            <a:chOff x="0" y="0"/>
            <a:chExt cx="91491" cy="91491"/>
          </a:xfrm>
        </p:grpSpPr>
        <p:sp>
          <p:nvSpPr>
            <p:cNvPr id="16" name="Freeform 16"/>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grpSp>
        <p:nvGrpSpPr>
          <p:cNvPr id="17" name="Group 17"/>
          <p:cNvGrpSpPr>
            <a:grpSpLocks noChangeAspect="1"/>
          </p:cNvGrpSpPr>
          <p:nvPr/>
        </p:nvGrpSpPr>
        <p:grpSpPr>
          <a:xfrm>
            <a:off x="3226418" y="6929999"/>
            <a:ext cx="66941" cy="66941"/>
            <a:chOff x="0" y="0"/>
            <a:chExt cx="91491" cy="91491"/>
          </a:xfrm>
        </p:grpSpPr>
        <p:sp>
          <p:nvSpPr>
            <p:cNvPr id="18" name="Freeform 18"/>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FFFFFF"/>
            </a:solidFill>
          </p:spPr>
        </p:sp>
      </p:grpSp>
      <p:sp>
        <p:nvSpPr>
          <p:cNvPr id="19" name="Freeform 19"/>
          <p:cNvSpPr/>
          <p:nvPr/>
        </p:nvSpPr>
        <p:spPr>
          <a:xfrm>
            <a:off x="357232" y="7087015"/>
            <a:ext cx="213003" cy="133926"/>
          </a:xfrm>
          <a:custGeom>
            <a:avLst/>
            <a:gdLst/>
            <a:ahLst/>
            <a:cxnLst/>
            <a:rect l="l" t="t" r="r" b="b"/>
            <a:pathLst>
              <a:path w="213003" h="133926">
                <a:moveTo>
                  <a:pt x="0" y="0"/>
                </a:moveTo>
                <a:lnTo>
                  <a:pt x="213003" y="0"/>
                </a:lnTo>
                <a:lnTo>
                  <a:pt x="213003" y="133925"/>
                </a:lnTo>
                <a:lnTo>
                  <a:pt x="0" y="1339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20"/>
          <p:cNvSpPr/>
          <p:nvPr/>
        </p:nvSpPr>
        <p:spPr>
          <a:xfrm>
            <a:off x="435067" y="4158413"/>
            <a:ext cx="146291" cy="104266"/>
          </a:xfrm>
          <a:custGeom>
            <a:avLst/>
            <a:gdLst/>
            <a:ahLst/>
            <a:cxnLst/>
            <a:rect l="l" t="t" r="r" b="b"/>
            <a:pathLst>
              <a:path w="146291" h="104266">
                <a:moveTo>
                  <a:pt x="0" y="0"/>
                </a:moveTo>
                <a:lnTo>
                  <a:pt x="146292" y="0"/>
                </a:lnTo>
                <a:lnTo>
                  <a:pt x="146292" y="104266"/>
                </a:lnTo>
                <a:lnTo>
                  <a:pt x="0" y="10426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1"/>
          <p:cNvSpPr/>
          <p:nvPr/>
        </p:nvSpPr>
        <p:spPr>
          <a:xfrm>
            <a:off x="448883" y="4605579"/>
            <a:ext cx="118661" cy="162752"/>
          </a:xfrm>
          <a:custGeom>
            <a:avLst/>
            <a:gdLst/>
            <a:ahLst/>
            <a:cxnLst/>
            <a:rect l="l" t="t" r="r" b="b"/>
            <a:pathLst>
              <a:path w="118661" h="162752">
                <a:moveTo>
                  <a:pt x="0" y="0"/>
                </a:moveTo>
                <a:lnTo>
                  <a:pt x="118661" y="0"/>
                </a:lnTo>
                <a:lnTo>
                  <a:pt x="118661" y="162752"/>
                </a:lnTo>
                <a:lnTo>
                  <a:pt x="0" y="16275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2" name="Freeform 22"/>
          <p:cNvSpPr/>
          <p:nvPr/>
        </p:nvSpPr>
        <p:spPr>
          <a:xfrm>
            <a:off x="454168" y="5111231"/>
            <a:ext cx="108089" cy="167462"/>
          </a:xfrm>
          <a:custGeom>
            <a:avLst/>
            <a:gdLst/>
            <a:ahLst/>
            <a:cxnLst/>
            <a:rect l="l" t="t" r="r" b="b"/>
            <a:pathLst>
              <a:path w="108089" h="167462">
                <a:moveTo>
                  <a:pt x="0" y="0"/>
                </a:moveTo>
                <a:lnTo>
                  <a:pt x="108090" y="0"/>
                </a:lnTo>
                <a:lnTo>
                  <a:pt x="108090" y="167462"/>
                </a:lnTo>
                <a:lnTo>
                  <a:pt x="0" y="16746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3" name="Freeform 23"/>
          <p:cNvSpPr/>
          <p:nvPr/>
        </p:nvSpPr>
        <p:spPr>
          <a:xfrm>
            <a:off x="427333" y="5754247"/>
            <a:ext cx="161760" cy="128820"/>
          </a:xfrm>
          <a:custGeom>
            <a:avLst/>
            <a:gdLst/>
            <a:ahLst/>
            <a:cxnLst/>
            <a:rect l="l" t="t" r="r" b="b"/>
            <a:pathLst>
              <a:path w="161760" h="128820">
                <a:moveTo>
                  <a:pt x="0" y="0"/>
                </a:moveTo>
                <a:lnTo>
                  <a:pt x="161760" y="0"/>
                </a:lnTo>
                <a:lnTo>
                  <a:pt x="161760" y="128820"/>
                </a:lnTo>
                <a:lnTo>
                  <a:pt x="0" y="12882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4" name="Freeform 24"/>
          <p:cNvSpPr/>
          <p:nvPr/>
        </p:nvSpPr>
        <p:spPr>
          <a:xfrm>
            <a:off x="454168" y="6199941"/>
            <a:ext cx="129232" cy="129232"/>
          </a:xfrm>
          <a:custGeom>
            <a:avLst/>
            <a:gdLst/>
            <a:ahLst/>
            <a:cxnLst/>
            <a:rect l="l" t="t" r="r" b="b"/>
            <a:pathLst>
              <a:path w="129232" h="129232">
                <a:moveTo>
                  <a:pt x="0" y="0"/>
                </a:moveTo>
                <a:lnTo>
                  <a:pt x="129232" y="0"/>
                </a:lnTo>
                <a:lnTo>
                  <a:pt x="129232" y="129232"/>
                </a:lnTo>
                <a:lnTo>
                  <a:pt x="0" y="1292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5" name="AutoShape 25"/>
          <p:cNvSpPr/>
          <p:nvPr/>
        </p:nvSpPr>
        <p:spPr>
          <a:xfrm flipH="1">
            <a:off x="3262616" y="8431044"/>
            <a:ext cx="1178" cy="2075866"/>
          </a:xfrm>
          <a:prstGeom prst="line">
            <a:avLst/>
          </a:prstGeom>
          <a:ln w="9525" cap="flat">
            <a:solidFill>
              <a:srgbClr val="323B4C"/>
            </a:solidFill>
            <a:prstDash val="solid"/>
            <a:headEnd type="none" w="sm" len="sm"/>
            <a:tailEnd type="none" w="sm" len="sm"/>
          </a:ln>
        </p:spPr>
      </p:sp>
      <p:grpSp>
        <p:nvGrpSpPr>
          <p:cNvPr id="26" name="Group 26"/>
          <p:cNvGrpSpPr>
            <a:grpSpLocks noChangeAspect="1"/>
          </p:cNvGrpSpPr>
          <p:nvPr/>
        </p:nvGrpSpPr>
        <p:grpSpPr>
          <a:xfrm>
            <a:off x="3212446" y="8414344"/>
            <a:ext cx="100341" cy="100341"/>
            <a:chOff x="0" y="0"/>
            <a:chExt cx="91491" cy="91491"/>
          </a:xfrm>
        </p:grpSpPr>
        <p:sp>
          <p:nvSpPr>
            <p:cNvPr id="27" name="Freeform 27"/>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grpSp>
        <p:nvGrpSpPr>
          <p:cNvPr id="28" name="Group 28"/>
          <p:cNvGrpSpPr>
            <a:grpSpLocks noChangeAspect="1"/>
          </p:cNvGrpSpPr>
          <p:nvPr/>
        </p:nvGrpSpPr>
        <p:grpSpPr>
          <a:xfrm>
            <a:off x="3212446" y="9418909"/>
            <a:ext cx="100341" cy="100341"/>
            <a:chOff x="0" y="0"/>
            <a:chExt cx="91491" cy="91491"/>
          </a:xfrm>
        </p:grpSpPr>
        <p:sp>
          <p:nvSpPr>
            <p:cNvPr id="29" name="Freeform 29"/>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grpSp>
        <p:nvGrpSpPr>
          <p:cNvPr id="30" name="Group 30"/>
          <p:cNvGrpSpPr>
            <a:grpSpLocks noChangeAspect="1"/>
          </p:cNvGrpSpPr>
          <p:nvPr/>
        </p:nvGrpSpPr>
        <p:grpSpPr>
          <a:xfrm>
            <a:off x="3229145" y="9435609"/>
            <a:ext cx="66941" cy="66941"/>
            <a:chOff x="0" y="0"/>
            <a:chExt cx="91491" cy="91491"/>
          </a:xfrm>
        </p:grpSpPr>
        <p:sp>
          <p:nvSpPr>
            <p:cNvPr id="31" name="Freeform 31"/>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FFFFFF"/>
            </a:solidFill>
          </p:spPr>
        </p:sp>
      </p:grpSp>
      <p:sp>
        <p:nvSpPr>
          <p:cNvPr id="32" name="Freeform 32"/>
          <p:cNvSpPr/>
          <p:nvPr/>
        </p:nvSpPr>
        <p:spPr>
          <a:xfrm>
            <a:off x="435067" y="3467103"/>
            <a:ext cx="191118" cy="191118"/>
          </a:xfrm>
          <a:custGeom>
            <a:avLst/>
            <a:gdLst/>
            <a:ahLst/>
            <a:cxnLst/>
            <a:rect l="l" t="t" r="r" b="b"/>
            <a:pathLst>
              <a:path w="191118" h="191118">
                <a:moveTo>
                  <a:pt x="0" y="0"/>
                </a:moveTo>
                <a:lnTo>
                  <a:pt x="191118" y="0"/>
                </a:lnTo>
                <a:lnTo>
                  <a:pt x="191118" y="191118"/>
                </a:lnTo>
                <a:lnTo>
                  <a:pt x="0" y="19111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33" name="TextBox 33"/>
          <p:cNvSpPr txBox="1"/>
          <p:nvPr/>
        </p:nvSpPr>
        <p:spPr>
          <a:xfrm>
            <a:off x="3168163" y="2946617"/>
            <a:ext cx="4155195" cy="1119378"/>
          </a:xfrm>
          <a:prstGeom prst="rect">
            <a:avLst/>
          </a:prstGeom>
        </p:spPr>
        <p:txBody>
          <a:bodyPr lIns="0" tIns="0" rIns="0" bIns="0" rtlCol="0" anchor="t">
            <a:spAutoFit/>
          </a:bodyPr>
          <a:lstStyle/>
          <a:p>
            <a:pPr algn="just">
              <a:lnSpc>
                <a:spcPts val="1566"/>
              </a:lnSpc>
            </a:pPr>
            <a:r>
              <a:rPr lang="en-US" sz="900" dirty="0">
                <a:solidFill>
                  <a:srgbClr val="444440"/>
                </a:solidFill>
                <a:latin typeface="Poppins Light"/>
                <a:ea typeface="Poppins Light"/>
                <a:cs typeface="Poppins Light"/>
                <a:sym typeface="Poppins Light"/>
              </a:rPr>
              <a:t>Consultant SAP junior, je combine des </a:t>
            </a:r>
            <a:r>
              <a:rPr lang="en-US" sz="900" dirty="0" err="1">
                <a:solidFill>
                  <a:srgbClr val="444440"/>
                </a:solidFill>
                <a:latin typeface="Poppins Light"/>
                <a:ea typeface="Poppins Light"/>
                <a:cs typeface="Poppins Light"/>
                <a:sym typeface="Poppins Light"/>
              </a:rPr>
              <a:t>compétences</a:t>
            </a:r>
            <a:r>
              <a:rPr lang="en-US" sz="900" dirty="0">
                <a:solidFill>
                  <a:srgbClr val="444440"/>
                </a:solidFill>
                <a:latin typeface="Poppins Light"/>
                <a:ea typeface="Poppins Light"/>
                <a:cs typeface="Poppins Light"/>
                <a:sym typeface="Poppins Light"/>
              </a:rPr>
              <a:t> techniques </a:t>
            </a:r>
            <a:r>
              <a:rPr lang="en-US" sz="900" dirty="0" err="1">
                <a:solidFill>
                  <a:srgbClr val="444440"/>
                </a:solidFill>
                <a:latin typeface="Poppins Light"/>
                <a:ea typeface="Poppins Light"/>
                <a:cs typeface="Poppins Light"/>
                <a:sym typeface="Poppins Light"/>
              </a:rPr>
              <a:t>solides</a:t>
            </a:r>
            <a:r>
              <a:rPr lang="en-US" sz="900" dirty="0">
                <a:solidFill>
                  <a:srgbClr val="444440"/>
                </a:solidFill>
                <a:latin typeface="Poppins Light"/>
                <a:ea typeface="Poppins Light"/>
                <a:cs typeface="Poppins Light"/>
                <a:sym typeface="Poppins Light"/>
              </a:rPr>
              <a:t> </a:t>
            </a:r>
            <a:r>
              <a:rPr lang="en-US" sz="900" dirty="0" err="1">
                <a:solidFill>
                  <a:srgbClr val="444440"/>
                </a:solidFill>
                <a:latin typeface="Poppins Light"/>
                <a:ea typeface="Poppins Light"/>
                <a:cs typeface="Poppins Light"/>
                <a:sym typeface="Poppins Light"/>
              </a:rPr>
              <a:t>en</a:t>
            </a:r>
            <a:r>
              <a:rPr lang="en-US" sz="900" dirty="0">
                <a:solidFill>
                  <a:srgbClr val="444440"/>
                </a:solidFill>
                <a:latin typeface="Poppins Light"/>
                <a:ea typeface="Poppins Light"/>
                <a:cs typeface="Poppins Light"/>
                <a:sym typeface="Poppins Light"/>
              </a:rPr>
              <a:t> </a:t>
            </a:r>
            <a:r>
              <a:rPr lang="en-US" sz="900" dirty="0" err="1">
                <a:solidFill>
                  <a:srgbClr val="444440"/>
                </a:solidFill>
                <a:latin typeface="Poppins Light"/>
                <a:ea typeface="Poppins Light"/>
                <a:cs typeface="Poppins Light"/>
                <a:sym typeface="Poppins Light"/>
              </a:rPr>
              <a:t>développement</a:t>
            </a:r>
            <a:r>
              <a:rPr lang="en-US" sz="900" dirty="0">
                <a:solidFill>
                  <a:srgbClr val="444440"/>
                </a:solidFill>
                <a:latin typeface="Poppins Light"/>
                <a:ea typeface="Poppins Light"/>
                <a:cs typeface="Poppins Light"/>
                <a:sym typeface="Poppins Light"/>
              </a:rPr>
              <a:t> SAP (ABAP, OData, SAPUI5, Fiori) avec </a:t>
            </a:r>
            <a:r>
              <a:rPr lang="en-US" sz="900" dirty="0" err="1">
                <a:solidFill>
                  <a:srgbClr val="444440"/>
                </a:solidFill>
                <a:latin typeface="Poppins Light"/>
                <a:ea typeface="Poppins Light"/>
                <a:cs typeface="Poppins Light"/>
                <a:sym typeface="Poppins Light"/>
              </a:rPr>
              <a:t>une</a:t>
            </a:r>
            <a:r>
              <a:rPr lang="en-US" sz="900" dirty="0">
                <a:solidFill>
                  <a:srgbClr val="444440"/>
                </a:solidFill>
                <a:latin typeface="Poppins Light"/>
                <a:ea typeface="Poppins Light"/>
                <a:cs typeface="Poppins Light"/>
                <a:sym typeface="Poppins Light"/>
              </a:rPr>
              <a:t> bonne </a:t>
            </a:r>
            <a:r>
              <a:rPr lang="en-US" sz="900" dirty="0" err="1">
                <a:solidFill>
                  <a:srgbClr val="444440"/>
                </a:solidFill>
                <a:latin typeface="Poppins Light"/>
                <a:ea typeface="Poppins Light"/>
                <a:cs typeface="Poppins Light"/>
                <a:sym typeface="Poppins Light"/>
              </a:rPr>
              <a:t>compréhension</a:t>
            </a:r>
            <a:r>
              <a:rPr lang="en-US" sz="900" dirty="0">
                <a:solidFill>
                  <a:srgbClr val="444440"/>
                </a:solidFill>
                <a:latin typeface="Poppins Light"/>
                <a:ea typeface="Poppins Light"/>
                <a:cs typeface="Poppins Light"/>
                <a:sym typeface="Poppins Light"/>
              </a:rPr>
              <a:t> des processus métiers. Capable </a:t>
            </a:r>
            <a:r>
              <a:rPr lang="en-US" sz="900" dirty="0" err="1">
                <a:solidFill>
                  <a:srgbClr val="444440"/>
                </a:solidFill>
                <a:latin typeface="Poppins Light"/>
                <a:ea typeface="Poppins Light"/>
                <a:cs typeface="Poppins Light"/>
                <a:sym typeface="Poppins Light"/>
              </a:rPr>
              <a:t>d’intervenir</a:t>
            </a:r>
            <a:r>
              <a:rPr lang="en-US" sz="900" dirty="0">
                <a:solidFill>
                  <a:srgbClr val="444440"/>
                </a:solidFill>
                <a:latin typeface="Poppins Light"/>
                <a:ea typeface="Poppins Light"/>
                <a:cs typeface="Poppins Light"/>
                <a:sym typeface="Poppins Light"/>
              </a:rPr>
              <a:t> </a:t>
            </a:r>
            <a:r>
              <a:rPr lang="en-US" sz="900" dirty="0" err="1">
                <a:solidFill>
                  <a:srgbClr val="444440"/>
                </a:solidFill>
                <a:latin typeface="Poppins Light"/>
                <a:ea typeface="Poppins Light"/>
                <a:cs typeface="Poppins Light"/>
                <a:sym typeface="Poppins Light"/>
              </a:rPr>
              <a:t>aussi</a:t>
            </a:r>
            <a:r>
              <a:rPr lang="en-US" sz="900" dirty="0">
                <a:solidFill>
                  <a:srgbClr val="444440"/>
                </a:solidFill>
                <a:latin typeface="Poppins Light"/>
                <a:ea typeface="Poppins Light"/>
                <a:cs typeface="Poppins Light"/>
                <a:sym typeface="Poppins Light"/>
              </a:rPr>
              <a:t> bien sur la conception que sur le </a:t>
            </a:r>
            <a:r>
              <a:rPr lang="en-US" sz="900" dirty="0" err="1">
                <a:solidFill>
                  <a:srgbClr val="444440"/>
                </a:solidFill>
                <a:latin typeface="Poppins Light"/>
                <a:ea typeface="Poppins Light"/>
                <a:cs typeface="Poppins Light"/>
                <a:sym typeface="Poppins Light"/>
              </a:rPr>
              <a:t>développement</a:t>
            </a:r>
            <a:r>
              <a:rPr lang="en-US" sz="900" dirty="0">
                <a:solidFill>
                  <a:srgbClr val="444440"/>
                </a:solidFill>
                <a:latin typeface="Poppins Light"/>
                <a:ea typeface="Poppins Light"/>
                <a:cs typeface="Poppins Light"/>
                <a:sym typeface="Poppins Light"/>
              </a:rPr>
              <a:t> de solutions SAP, je suis </a:t>
            </a:r>
            <a:r>
              <a:rPr lang="en-US" sz="900" dirty="0" err="1">
                <a:solidFill>
                  <a:srgbClr val="444440"/>
                </a:solidFill>
                <a:latin typeface="Poppins Light"/>
                <a:ea typeface="Poppins Light"/>
                <a:cs typeface="Poppins Light"/>
                <a:sym typeface="Poppins Light"/>
              </a:rPr>
              <a:t>motivé</a:t>
            </a:r>
            <a:r>
              <a:rPr lang="en-US" sz="900" dirty="0">
                <a:solidFill>
                  <a:srgbClr val="444440"/>
                </a:solidFill>
                <a:latin typeface="Poppins Light"/>
                <a:ea typeface="Poppins Light"/>
                <a:cs typeface="Poppins Light"/>
                <a:sym typeface="Poppins Light"/>
              </a:rPr>
              <a:t>, </a:t>
            </a:r>
            <a:r>
              <a:rPr lang="en-US" sz="900" dirty="0" err="1">
                <a:solidFill>
                  <a:srgbClr val="444440"/>
                </a:solidFill>
                <a:latin typeface="Poppins Light"/>
                <a:ea typeface="Poppins Light"/>
                <a:cs typeface="Poppins Light"/>
                <a:sym typeface="Poppins Light"/>
              </a:rPr>
              <a:t>curieux</a:t>
            </a:r>
            <a:r>
              <a:rPr lang="en-US" sz="900" dirty="0">
                <a:solidFill>
                  <a:srgbClr val="444440"/>
                </a:solidFill>
                <a:latin typeface="Poppins Light"/>
                <a:ea typeface="Poppins Light"/>
                <a:cs typeface="Poppins Light"/>
                <a:sym typeface="Poppins Light"/>
              </a:rPr>
              <a:t> et </a:t>
            </a:r>
            <a:r>
              <a:rPr lang="en-US" sz="900" dirty="0" err="1">
                <a:solidFill>
                  <a:srgbClr val="444440"/>
                </a:solidFill>
                <a:latin typeface="Poppins Light"/>
                <a:ea typeface="Poppins Light"/>
                <a:cs typeface="Poppins Light"/>
                <a:sym typeface="Poppins Light"/>
              </a:rPr>
              <a:t>désireux</a:t>
            </a:r>
            <a:r>
              <a:rPr lang="en-US" sz="900" dirty="0">
                <a:solidFill>
                  <a:srgbClr val="444440"/>
                </a:solidFill>
                <a:latin typeface="Poppins Light"/>
                <a:ea typeface="Poppins Light"/>
                <a:cs typeface="Poppins Light"/>
                <a:sym typeface="Poppins Light"/>
              </a:rPr>
              <a:t> de </a:t>
            </a:r>
            <a:r>
              <a:rPr lang="en-US" sz="900" dirty="0" err="1">
                <a:solidFill>
                  <a:srgbClr val="444440"/>
                </a:solidFill>
                <a:latin typeface="Poppins Light"/>
                <a:ea typeface="Poppins Light"/>
                <a:cs typeface="Poppins Light"/>
                <a:sym typeface="Poppins Light"/>
              </a:rPr>
              <a:t>contribuer</a:t>
            </a:r>
            <a:r>
              <a:rPr lang="en-US" sz="900" dirty="0">
                <a:solidFill>
                  <a:srgbClr val="444440"/>
                </a:solidFill>
                <a:latin typeface="Poppins Light"/>
                <a:ea typeface="Poppins Light"/>
                <a:cs typeface="Poppins Light"/>
                <a:sym typeface="Poppins Light"/>
              </a:rPr>
              <a:t> à des </a:t>
            </a:r>
            <a:r>
              <a:rPr lang="en-US" sz="900" dirty="0" err="1">
                <a:solidFill>
                  <a:srgbClr val="444440"/>
                </a:solidFill>
                <a:latin typeface="Poppins Light"/>
                <a:ea typeface="Poppins Light"/>
                <a:cs typeface="Poppins Light"/>
                <a:sym typeface="Poppins Light"/>
              </a:rPr>
              <a:t>projets</a:t>
            </a:r>
            <a:r>
              <a:rPr lang="en-US" sz="900" dirty="0">
                <a:solidFill>
                  <a:srgbClr val="444440"/>
                </a:solidFill>
                <a:latin typeface="Poppins Light"/>
                <a:ea typeface="Poppins Light"/>
                <a:cs typeface="Poppins Light"/>
                <a:sym typeface="Poppins Light"/>
              </a:rPr>
              <a:t> </a:t>
            </a:r>
            <a:r>
              <a:rPr lang="en-US" sz="900" dirty="0" err="1">
                <a:solidFill>
                  <a:srgbClr val="444440"/>
                </a:solidFill>
                <a:latin typeface="Poppins Light"/>
                <a:ea typeface="Poppins Light"/>
                <a:cs typeface="Poppins Light"/>
                <a:sym typeface="Poppins Light"/>
              </a:rPr>
              <a:t>innovants</a:t>
            </a:r>
            <a:r>
              <a:rPr lang="en-US" sz="900" dirty="0">
                <a:solidFill>
                  <a:srgbClr val="444440"/>
                </a:solidFill>
                <a:latin typeface="Poppins Light"/>
                <a:ea typeface="Poppins Light"/>
                <a:cs typeface="Poppins Light"/>
                <a:sym typeface="Poppins Light"/>
              </a:rPr>
              <a:t> tout </a:t>
            </a:r>
            <a:r>
              <a:rPr lang="en-US" sz="900" dirty="0" err="1">
                <a:solidFill>
                  <a:srgbClr val="444440"/>
                </a:solidFill>
                <a:latin typeface="Poppins Light"/>
                <a:ea typeface="Poppins Light"/>
                <a:cs typeface="Poppins Light"/>
                <a:sym typeface="Poppins Light"/>
              </a:rPr>
              <a:t>en</a:t>
            </a:r>
            <a:r>
              <a:rPr lang="en-US" sz="900" dirty="0">
                <a:solidFill>
                  <a:srgbClr val="444440"/>
                </a:solidFill>
                <a:latin typeface="Poppins Light"/>
                <a:ea typeface="Poppins Light"/>
                <a:cs typeface="Poppins Light"/>
                <a:sym typeface="Poppins Light"/>
              </a:rPr>
              <a:t> </a:t>
            </a:r>
            <a:r>
              <a:rPr lang="en-US" sz="900" dirty="0" err="1">
                <a:solidFill>
                  <a:srgbClr val="444440"/>
                </a:solidFill>
                <a:latin typeface="Poppins Light"/>
                <a:ea typeface="Poppins Light"/>
                <a:cs typeface="Poppins Light"/>
                <a:sym typeface="Poppins Light"/>
              </a:rPr>
              <a:t>développant</a:t>
            </a:r>
            <a:r>
              <a:rPr lang="en-US" sz="900" dirty="0">
                <a:solidFill>
                  <a:srgbClr val="444440"/>
                </a:solidFill>
                <a:latin typeface="Poppins Light"/>
                <a:ea typeface="Poppins Light"/>
                <a:cs typeface="Poppins Light"/>
                <a:sym typeface="Poppins Light"/>
              </a:rPr>
              <a:t> </a:t>
            </a:r>
            <a:r>
              <a:rPr lang="en-US" sz="900" dirty="0" err="1">
                <a:solidFill>
                  <a:srgbClr val="444440"/>
                </a:solidFill>
                <a:latin typeface="Poppins Light"/>
                <a:ea typeface="Poppins Light"/>
                <a:cs typeface="Poppins Light"/>
                <a:sym typeface="Poppins Light"/>
              </a:rPr>
              <a:t>mes</a:t>
            </a:r>
            <a:r>
              <a:rPr lang="en-US" sz="900" dirty="0">
                <a:solidFill>
                  <a:srgbClr val="444440"/>
                </a:solidFill>
                <a:latin typeface="Poppins Light"/>
                <a:ea typeface="Poppins Light"/>
                <a:cs typeface="Poppins Light"/>
                <a:sym typeface="Poppins Light"/>
              </a:rPr>
              <a:t> </a:t>
            </a:r>
            <a:r>
              <a:rPr lang="en-US" sz="900" dirty="0" err="1">
                <a:solidFill>
                  <a:srgbClr val="444440"/>
                </a:solidFill>
                <a:latin typeface="Poppins Light"/>
                <a:ea typeface="Poppins Light"/>
                <a:cs typeface="Poppins Light"/>
                <a:sym typeface="Poppins Light"/>
              </a:rPr>
              <a:t>compétences</a:t>
            </a:r>
            <a:r>
              <a:rPr lang="en-US" sz="900" dirty="0">
                <a:solidFill>
                  <a:srgbClr val="444440"/>
                </a:solidFill>
                <a:latin typeface="Poppins Light"/>
                <a:ea typeface="Poppins Light"/>
                <a:cs typeface="Poppins Light"/>
                <a:sym typeface="Poppins Light"/>
              </a:rPr>
              <a:t> </a:t>
            </a:r>
            <a:r>
              <a:rPr lang="en-US" sz="900" dirty="0" err="1">
                <a:solidFill>
                  <a:srgbClr val="444440"/>
                </a:solidFill>
                <a:latin typeface="Poppins Light"/>
                <a:ea typeface="Poppins Light"/>
                <a:cs typeface="Poppins Light"/>
                <a:sym typeface="Poppins Light"/>
              </a:rPr>
              <a:t>fonctionnelles</a:t>
            </a:r>
            <a:r>
              <a:rPr lang="en-US" sz="900" dirty="0">
                <a:solidFill>
                  <a:srgbClr val="444440"/>
                </a:solidFill>
                <a:latin typeface="Poppins Light"/>
                <a:ea typeface="Poppins Light"/>
                <a:cs typeface="Poppins Light"/>
                <a:sym typeface="Poppins Light"/>
              </a:rPr>
              <a:t> et techniques.</a:t>
            </a:r>
          </a:p>
        </p:txBody>
      </p:sp>
      <p:sp>
        <p:nvSpPr>
          <p:cNvPr id="34" name="TextBox 34"/>
          <p:cNvSpPr txBox="1"/>
          <p:nvPr/>
        </p:nvSpPr>
        <p:spPr>
          <a:xfrm>
            <a:off x="3168163" y="4202727"/>
            <a:ext cx="2959465" cy="276225"/>
          </a:xfrm>
          <a:prstGeom prst="rect">
            <a:avLst/>
          </a:prstGeom>
        </p:spPr>
        <p:txBody>
          <a:bodyPr lIns="0" tIns="0" rIns="0" bIns="0" rtlCol="0" anchor="t">
            <a:spAutoFit/>
          </a:bodyPr>
          <a:lstStyle/>
          <a:p>
            <a:pPr algn="l">
              <a:lnSpc>
                <a:spcPts val="2100"/>
              </a:lnSpc>
            </a:pPr>
            <a:r>
              <a:rPr lang="en-US" sz="1500" b="1">
                <a:solidFill>
                  <a:srgbClr val="444440"/>
                </a:solidFill>
                <a:latin typeface="Poppins Bold"/>
                <a:ea typeface="Poppins Bold"/>
                <a:cs typeface="Poppins Bold"/>
                <a:sym typeface="Poppins Bold"/>
              </a:rPr>
              <a:t>Expériences professionnelles</a:t>
            </a:r>
          </a:p>
        </p:txBody>
      </p:sp>
      <p:sp>
        <p:nvSpPr>
          <p:cNvPr id="35" name="TextBox 35"/>
          <p:cNvSpPr txBox="1"/>
          <p:nvPr/>
        </p:nvSpPr>
        <p:spPr>
          <a:xfrm>
            <a:off x="3412216" y="6323337"/>
            <a:ext cx="3825234" cy="534417"/>
          </a:xfrm>
          <a:prstGeom prst="rect">
            <a:avLst/>
          </a:prstGeom>
        </p:spPr>
        <p:txBody>
          <a:bodyPr lIns="0" tIns="0" rIns="0" bIns="0" rtlCol="0" anchor="t">
            <a:spAutoFit/>
          </a:bodyPr>
          <a:lstStyle/>
          <a:p>
            <a:pPr algn="just">
              <a:lnSpc>
                <a:spcPts val="1057"/>
              </a:lnSpc>
            </a:pPr>
            <a:r>
              <a:rPr lang="en-US" sz="700" spc="14">
                <a:solidFill>
                  <a:srgbClr val="737373"/>
                </a:solidFill>
                <a:latin typeface="Poppins"/>
                <a:ea typeface="Poppins"/>
                <a:cs typeface="Poppins"/>
                <a:sym typeface="Poppins"/>
              </a:rPr>
              <a:t>Thème : Conception et réalisation d’une application web pour le recensement et impression de badge pour les employés de MTEFPLS (Ministère du Travail, de l’Emploie et de la Fonction publique des Lois Sociales).</a:t>
            </a:r>
          </a:p>
          <a:p>
            <a:pPr algn="just">
              <a:lnSpc>
                <a:spcPts val="1057"/>
              </a:lnSpc>
            </a:pPr>
            <a:endParaRPr lang="en-US" sz="700" spc="14">
              <a:solidFill>
                <a:srgbClr val="737373"/>
              </a:solidFill>
              <a:latin typeface="Poppins"/>
              <a:ea typeface="Poppins"/>
              <a:cs typeface="Poppins"/>
              <a:sym typeface="Poppins"/>
            </a:endParaRPr>
          </a:p>
        </p:txBody>
      </p:sp>
      <p:sp>
        <p:nvSpPr>
          <p:cNvPr id="36" name="TextBox 36"/>
          <p:cNvSpPr txBox="1"/>
          <p:nvPr/>
        </p:nvSpPr>
        <p:spPr>
          <a:xfrm>
            <a:off x="3412216" y="5102222"/>
            <a:ext cx="3825234" cy="534417"/>
          </a:xfrm>
          <a:prstGeom prst="rect">
            <a:avLst/>
          </a:prstGeom>
        </p:spPr>
        <p:txBody>
          <a:bodyPr lIns="0" tIns="0" rIns="0" bIns="0" rtlCol="0" anchor="t">
            <a:spAutoFit/>
          </a:bodyPr>
          <a:lstStyle/>
          <a:p>
            <a:pPr algn="just">
              <a:lnSpc>
                <a:spcPts val="1057"/>
              </a:lnSpc>
            </a:pPr>
            <a:r>
              <a:rPr lang="en-US" sz="700" spc="14">
                <a:solidFill>
                  <a:srgbClr val="737373"/>
                </a:solidFill>
                <a:latin typeface="Poppins"/>
                <a:ea typeface="Poppins"/>
                <a:cs typeface="Poppins"/>
                <a:sym typeface="Poppins"/>
              </a:rPr>
              <a:t>- Formation approfondie aux modules SAP S/4HANA, avec une spécialisation en développement ABAP et Fiori.    </a:t>
            </a:r>
          </a:p>
          <a:p>
            <a:pPr algn="just">
              <a:lnSpc>
                <a:spcPts val="1057"/>
              </a:lnSpc>
            </a:pPr>
            <a:r>
              <a:rPr lang="en-US" sz="700" spc="14">
                <a:solidFill>
                  <a:srgbClr val="737373"/>
                </a:solidFill>
                <a:latin typeface="Poppins"/>
                <a:ea typeface="Poppins"/>
                <a:cs typeface="Poppins"/>
                <a:sym typeface="Poppins"/>
              </a:rPr>
              <a:t>- Approche technico-fonctionnelle centrée sur la compréhension des processus métiers, l’analyse des besoins et la conception de solutions SAP performantes.</a:t>
            </a:r>
          </a:p>
        </p:txBody>
      </p:sp>
      <p:sp>
        <p:nvSpPr>
          <p:cNvPr id="37" name="TextBox 37"/>
          <p:cNvSpPr txBox="1"/>
          <p:nvPr/>
        </p:nvSpPr>
        <p:spPr>
          <a:xfrm>
            <a:off x="3412216" y="6058186"/>
            <a:ext cx="3906863" cy="200660"/>
          </a:xfrm>
          <a:prstGeom prst="rect">
            <a:avLst/>
          </a:prstGeom>
        </p:spPr>
        <p:txBody>
          <a:bodyPr lIns="0" tIns="0" rIns="0" bIns="0" rtlCol="0" anchor="t">
            <a:spAutoFit/>
          </a:bodyPr>
          <a:lstStyle/>
          <a:p>
            <a:pPr algn="l">
              <a:lnSpc>
                <a:spcPts val="1540"/>
              </a:lnSpc>
            </a:pPr>
            <a:r>
              <a:rPr lang="en-US" sz="1100" b="1" spc="-3">
                <a:solidFill>
                  <a:srgbClr val="414042"/>
                </a:solidFill>
                <a:latin typeface="Poppins Medium"/>
                <a:ea typeface="Poppins Medium"/>
                <a:cs typeface="Poppins Medium"/>
                <a:sym typeface="Poppins Medium"/>
              </a:rPr>
              <a:t>Stage de Fin de Cycle de Licence en Informatique</a:t>
            </a:r>
          </a:p>
        </p:txBody>
      </p:sp>
      <p:sp>
        <p:nvSpPr>
          <p:cNvPr id="38" name="TextBox 38"/>
          <p:cNvSpPr txBox="1"/>
          <p:nvPr/>
        </p:nvSpPr>
        <p:spPr>
          <a:xfrm>
            <a:off x="3412216" y="4856321"/>
            <a:ext cx="3906863" cy="200660"/>
          </a:xfrm>
          <a:prstGeom prst="rect">
            <a:avLst/>
          </a:prstGeom>
        </p:spPr>
        <p:txBody>
          <a:bodyPr lIns="0" tIns="0" rIns="0" bIns="0" rtlCol="0" anchor="t">
            <a:spAutoFit/>
          </a:bodyPr>
          <a:lstStyle/>
          <a:p>
            <a:pPr algn="l">
              <a:lnSpc>
                <a:spcPts val="1540"/>
              </a:lnSpc>
            </a:pPr>
            <a:r>
              <a:rPr lang="en-US" sz="1100" b="1" spc="-3">
                <a:solidFill>
                  <a:srgbClr val="414042"/>
                </a:solidFill>
                <a:latin typeface="Poppins Medium"/>
                <a:ea typeface="Poppins Medium"/>
                <a:cs typeface="Poppins Medium"/>
                <a:sym typeface="Poppins Medium"/>
              </a:rPr>
              <a:t>Formation technico-fonctionnelle SAP</a:t>
            </a:r>
          </a:p>
        </p:txBody>
      </p:sp>
      <p:sp>
        <p:nvSpPr>
          <p:cNvPr id="39" name="TextBox 39"/>
          <p:cNvSpPr txBox="1"/>
          <p:nvPr/>
        </p:nvSpPr>
        <p:spPr>
          <a:xfrm>
            <a:off x="3412216" y="5663130"/>
            <a:ext cx="1621266"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Juin 2022 - Aout 2022</a:t>
            </a:r>
          </a:p>
        </p:txBody>
      </p:sp>
      <p:sp>
        <p:nvSpPr>
          <p:cNvPr id="40" name="TextBox 40"/>
          <p:cNvSpPr txBox="1"/>
          <p:nvPr/>
        </p:nvSpPr>
        <p:spPr>
          <a:xfrm>
            <a:off x="3412216" y="4461265"/>
            <a:ext cx="2609750"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Fevrier 2025 -  Présent</a:t>
            </a:r>
          </a:p>
        </p:txBody>
      </p:sp>
      <p:sp>
        <p:nvSpPr>
          <p:cNvPr id="41" name="TextBox 41"/>
          <p:cNvSpPr txBox="1"/>
          <p:nvPr/>
        </p:nvSpPr>
        <p:spPr>
          <a:xfrm>
            <a:off x="3412216" y="5833650"/>
            <a:ext cx="3061776"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MTEFPLS l Antananarivo, Madagascar </a:t>
            </a:r>
          </a:p>
        </p:txBody>
      </p:sp>
      <p:sp>
        <p:nvSpPr>
          <p:cNvPr id="42" name="TextBox 42"/>
          <p:cNvSpPr txBox="1"/>
          <p:nvPr/>
        </p:nvSpPr>
        <p:spPr>
          <a:xfrm>
            <a:off x="3412216" y="4631785"/>
            <a:ext cx="3473644" cy="208968"/>
          </a:xfrm>
          <a:prstGeom prst="rect">
            <a:avLst/>
          </a:prstGeom>
        </p:spPr>
        <p:txBody>
          <a:bodyPr lIns="0" tIns="0" rIns="0" bIns="0" rtlCol="0" anchor="t">
            <a:spAutoFit/>
          </a:bodyPr>
          <a:lstStyle/>
          <a:p>
            <a:pPr algn="just">
              <a:lnSpc>
                <a:spcPts val="1756"/>
              </a:lnSpc>
            </a:pPr>
            <a:r>
              <a:rPr lang="en-US" sz="999" spc="46" dirty="0">
                <a:solidFill>
                  <a:srgbClr val="737373"/>
                </a:solidFill>
                <a:latin typeface="Poppins"/>
                <a:ea typeface="Poppins"/>
                <a:cs typeface="Poppins"/>
                <a:sym typeface="Poppins"/>
              </a:rPr>
              <a:t>SAPERP Solutions l Antananarivo, Madagascar </a:t>
            </a:r>
          </a:p>
        </p:txBody>
      </p:sp>
      <p:sp>
        <p:nvSpPr>
          <p:cNvPr id="43" name="TextBox 43"/>
          <p:cNvSpPr txBox="1"/>
          <p:nvPr/>
        </p:nvSpPr>
        <p:spPr>
          <a:xfrm>
            <a:off x="3426229" y="7533056"/>
            <a:ext cx="3797208" cy="535306"/>
          </a:xfrm>
          <a:prstGeom prst="rect">
            <a:avLst/>
          </a:prstGeom>
        </p:spPr>
        <p:txBody>
          <a:bodyPr lIns="0" tIns="0" rIns="0" bIns="0" rtlCol="0" anchor="t">
            <a:spAutoFit/>
          </a:bodyPr>
          <a:lstStyle/>
          <a:p>
            <a:pPr algn="just">
              <a:lnSpc>
                <a:spcPts val="1050"/>
              </a:lnSpc>
            </a:pPr>
            <a:r>
              <a:rPr lang="en-US" sz="700" spc="14">
                <a:solidFill>
                  <a:srgbClr val="737373"/>
                </a:solidFill>
                <a:latin typeface="Poppins Light"/>
                <a:ea typeface="Poppins Light"/>
                <a:cs typeface="Poppins Light"/>
                <a:sym typeface="Poppins Light"/>
              </a:rPr>
              <a:t>Thème : Conception et réalisation d’une application pour gérer les Manuels et les Kits scolaires au niveau de la DREN Haute Mahatsiatra (Direction Régionale de l’Education Nationale)</a:t>
            </a:r>
          </a:p>
          <a:p>
            <a:pPr algn="just">
              <a:lnSpc>
                <a:spcPts val="1050"/>
              </a:lnSpc>
            </a:pPr>
            <a:endParaRPr lang="en-US" sz="700" spc="14">
              <a:solidFill>
                <a:srgbClr val="737373"/>
              </a:solidFill>
              <a:latin typeface="Poppins Light"/>
              <a:ea typeface="Poppins Light"/>
              <a:cs typeface="Poppins Light"/>
              <a:sym typeface="Poppins Light"/>
            </a:endParaRPr>
          </a:p>
        </p:txBody>
      </p:sp>
      <p:sp>
        <p:nvSpPr>
          <p:cNvPr id="44" name="TextBox 44"/>
          <p:cNvSpPr txBox="1"/>
          <p:nvPr/>
        </p:nvSpPr>
        <p:spPr>
          <a:xfrm>
            <a:off x="3426229" y="7267905"/>
            <a:ext cx="3994250" cy="200660"/>
          </a:xfrm>
          <a:prstGeom prst="rect">
            <a:avLst/>
          </a:prstGeom>
        </p:spPr>
        <p:txBody>
          <a:bodyPr lIns="0" tIns="0" rIns="0" bIns="0" rtlCol="0" anchor="t">
            <a:spAutoFit/>
          </a:bodyPr>
          <a:lstStyle/>
          <a:p>
            <a:pPr algn="l">
              <a:lnSpc>
                <a:spcPts val="1540"/>
              </a:lnSpc>
            </a:pPr>
            <a:r>
              <a:rPr lang="en-US" sz="1100" b="1" spc="-3">
                <a:solidFill>
                  <a:srgbClr val="414042"/>
                </a:solidFill>
                <a:latin typeface="Poppins Medium"/>
                <a:ea typeface="Poppins Medium"/>
                <a:cs typeface="Poppins Medium"/>
                <a:sym typeface="Poppins Medium"/>
              </a:rPr>
              <a:t>Stage en deuxième année de Licence Informatique  </a:t>
            </a:r>
          </a:p>
        </p:txBody>
      </p:sp>
      <p:sp>
        <p:nvSpPr>
          <p:cNvPr id="45" name="TextBox 45"/>
          <p:cNvSpPr txBox="1"/>
          <p:nvPr/>
        </p:nvSpPr>
        <p:spPr>
          <a:xfrm>
            <a:off x="3426229" y="6872849"/>
            <a:ext cx="1652291"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Avril 2021 - Juin 2021</a:t>
            </a:r>
          </a:p>
        </p:txBody>
      </p:sp>
      <p:sp>
        <p:nvSpPr>
          <p:cNvPr id="46" name="TextBox 46"/>
          <p:cNvSpPr txBox="1"/>
          <p:nvPr/>
        </p:nvSpPr>
        <p:spPr>
          <a:xfrm>
            <a:off x="3426229" y="7043369"/>
            <a:ext cx="3878837"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DREN Haute Matsiatra l Fianarantsoa, Madagascar</a:t>
            </a:r>
          </a:p>
        </p:txBody>
      </p:sp>
      <p:sp>
        <p:nvSpPr>
          <p:cNvPr id="47" name="TextBox 47"/>
          <p:cNvSpPr txBox="1"/>
          <p:nvPr/>
        </p:nvSpPr>
        <p:spPr>
          <a:xfrm>
            <a:off x="3168163" y="2617669"/>
            <a:ext cx="1633375" cy="542925"/>
          </a:xfrm>
          <a:prstGeom prst="rect">
            <a:avLst/>
          </a:prstGeom>
        </p:spPr>
        <p:txBody>
          <a:bodyPr lIns="0" tIns="0" rIns="0" bIns="0" rtlCol="0" anchor="t">
            <a:spAutoFit/>
          </a:bodyPr>
          <a:lstStyle/>
          <a:p>
            <a:pPr algn="l">
              <a:lnSpc>
                <a:spcPts val="2100"/>
              </a:lnSpc>
            </a:pPr>
            <a:r>
              <a:rPr lang="en-US" sz="1500" b="1">
                <a:solidFill>
                  <a:srgbClr val="444440"/>
                </a:solidFill>
                <a:latin typeface="Poppins Bold"/>
                <a:ea typeface="Poppins Bold"/>
                <a:cs typeface="Poppins Bold"/>
                <a:sym typeface="Poppins Bold"/>
              </a:rPr>
              <a:t>Profil</a:t>
            </a:r>
          </a:p>
          <a:p>
            <a:pPr algn="l">
              <a:lnSpc>
                <a:spcPts val="2100"/>
              </a:lnSpc>
            </a:pPr>
            <a:endParaRPr lang="en-US" sz="1500" b="1">
              <a:solidFill>
                <a:srgbClr val="444440"/>
              </a:solidFill>
              <a:latin typeface="Poppins Bold"/>
              <a:ea typeface="Poppins Bold"/>
              <a:cs typeface="Poppins Bold"/>
              <a:sym typeface="Poppins Bold"/>
            </a:endParaRPr>
          </a:p>
        </p:txBody>
      </p:sp>
      <p:sp>
        <p:nvSpPr>
          <p:cNvPr id="48" name="TextBox 48"/>
          <p:cNvSpPr txBox="1"/>
          <p:nvPr/>
        </p:nvSpPr>
        <p:spPr>
          <a:xfrm>
            <a:off x="708472" y="7010077"/>
            <a:ext cx="1641324" cy="259715"/>
          </a:xfrm>
          <a:prstGeom prst="rect">
            <a:avLst/>
          </a:prstGeom>
        </p:spPr>
        <p:txBody>
          <a:bodyPr lIns="0" tIns="0" rIns="0" bIns="0" rtlCol="0" anchor="t">
            <a:spAutoFit/>
          </a:bodyPr>
          <a:lstStyle/>
          <a:p>
            <a:pPr algn="l">
              <a:lnSpc>
                <a:spcPts val="1960"/>
              </a:lnSpc>
            </a:pPr>
            <a:r>
              <a:rPr lang="en-US" sz="1400" b="1">
                <a:solidFill>
                  <a:srgbClr val="FFFFFF"/>
                </a:solidFill>
                <a:latin typeface="Poppins Bold"/>
                <a:ea typeface="Poppins Bold"/>
                <a:cs typeface="Poppins Bold"/>
                <a:sym typeface="Poppins Bold"/>
              </a:rPr>
              <a:t>Compétences</a:t>
            </a:r>
          </a:p>
        </p:txBody>
      </p:sp>
      <p:sp>
        <p:nvSpPr>
          <p:cNvPr id="49" name="TextBox 49"/>
          <p:cNvSpPr txBox="1"/>
          <p:nvPr/>
        </p:nvSpPr>
        <p:spPr>
          <a:xfrm>
            <a:off x="448883" y="7345992"/>
            <a:ext cx="2268328" cy="2585020"/>
          </a:xfrm>
          <a:prstGeom prst="rect">
            <a:avLst/>
          </a:prstGeom>
        </p:spPr>
        <p:txBody>
          <a:bodyPr lIns="0" tIns="0" rIns="0" bIns="0" rtlCol="0" anchor="t">
            <a:spAutoFit/>
          </a:bodyPr>
          <a:lstStyle/>
          <a:p>
            <a:pPr marL="194512" lvl="1" indent="-97256" algn="l">
              <a:lnSpc>
                <a:spcPts val="1576"/>
              </a:lnSpc>
              <a:buFont typeface="Arial"/>
              <a:buChar char="•"/>
            </a:pPr>
            <a:r>
              <a:rPr lang="en-US" sz="900">
                <a:solidFill>
                  <a:srgbClr val="FFFFFF"/>
                </a:solidFill>
                <a:latin typeface="Poppins"/>
                <a:ea typeface="Poppins"/>
                <a:cs typeface="Poppins"/>
                <a:sym typeface="Poppins"/>
              </a:rPr>
              <a:t>Langages de programmation :</a:t>
            </a:r>
          </a:p>
          <a:p>
            <a:pPr algn="l">
              <a:lnSpc>
                <a:spcPts val="1576"/>
              </a:lnSpc>
            </a:pPr>
            <a:r>
              <a:rPr lang="en-US" sz="900">
                <a:solidFill>
                  <a:srgbClr val="FFFFFF"/>
                </a:solidFill>
                <a:latin typeface="Poppins"/>
                <a:ea typeface="Poppins"/>
                <a:cs typeface="Poppins"/>
                <a:sym typeface="Poppins"/>
              </a:rPr>
              <a:t>       HTML, CSS, JS, PHP , JAVA , J2EE,     SAPUI5, ABAP </a:t>
            </a:r>
          </a:p>
          <a:p>
            <a:pPr marL="194512" lvl="1" indent="-97256" algn="l">
              <a:lnSpc>
                <a:spcPts val="1576"/>
              </a:lnSpc>
              <a:buFont typeface="Arial"/>
              <a:buChar char="•"/>
            </a:pPr>
            <a:r>
              <a:rPr lang="en-US" sz="900">
                <a:solidFill>
                  <a:srgbClr val="FFFFFF"/>
                </a:solidFill>
                <a:latin typeface="Poppins"/>
                <a:ea typeface="Poppins"/>
                <a:cs typeface="Poppins"/>
                <a:sym typeface="Poppins"/>
              </a:rPr>
              <a:t>Frameworks &amp; Library : </a:t>
            </a:r>
          </a:p>
          <a:p>
            <a:pPr algn="l">
              <a:lnSpc>
                <a:spcPts val="1576"/>
              </a:lnSpc>
            </a:pPr>
            <a:r>
              <a:rPr lang="en-US" sz="900">
                <a:solidFill>
                  <a:srgbClr val="FFFFFF"/>
                </a:solidFill>
                <a:latin typeface="Poppins"/>
                <a:ea typeface="Poppins"/>
                <a:cs typeface="Poppins"/>
                <a:sym typeface="Poppins"/>
              </a:rPr>
              <a:t>      Library React JS, Framework  Laravel, </a:t>
            </a:r>
          </a:p>
          <a:p>
            <a:pPr algn="l">
              <a:lnSpc>
                <a:spcPts val="1576"/>
              </a:lnSpc>
            </a:pPr>
            <a:r>
              <a:rPr lang="en-US" sz="900">
                <a:solidFill>
                  <a:srgbClr val="FFFFFF"/>
                </a:solidFill>
                <a:latin typeface="Poppins"/>
                <a:ea typeface="Poppins"/>
                <a:cs typeface="Poppins"/>
                <a:sym typeface="Poppins"/>
              </a:rPr>
              <a:t>      ReactGeo</a:t>
            </a:r>
          </a:p>
          <a:p>
            <a:pPr marL="194512" lvl="1" indent="-97256" algn="l">
              <a:lnSpc>
                <a:spcPts val="1576"/>
              </a:lnSpc>
              <a:buFont typeface="Arial"/>
              <a:buChar char="•"/>
            </a:pPr>
            <a:r>
              <a:rPr lang="en-US" sz="900">
                <a:solidFill>
                  <a:srgbClr val="FFFFFF"/>
                </a:solidFill>
                <a:latin typeface="Poppins"/>
                <a:ea typeface="Poppins"/>
                <a:cs typeface="Poppins"/>
                <a:sym typeface="Poppins"/>
              </a:rPr>
              <a:t>Base de donnée : MySQL, PostgreSQL</a:t>
            </a:r>
          </a:p>
          <a:p>
            <a:pPr marL="194512" lvl="1" indent="-97256" algn="l">
              <a:lnSpc>
                <a:spcPts val="1576"/>
              </a:lnSpc>
              <a:buFont typeface="Arial"/>
              <a:buChar char="•"/>
            </a:pPr>
            <a:r>
              <a:rPr lang="en-US" sz="900">
                <a:solidFill>
                  <a:srgbClr val="FFFFFF"/>
                </a:solidFill>
                <a:latin typeface="Poppins"/>
                <a:ea typeface="Poppins"/>
                <a:cs typeface="Poppins"/>
                <a:sym typeface="Poppins"/>
              </a:rPr>
              <a:t>Développement de services OData pour applications Fiori/SAPUI5</a:t>
            </a:r>
          </a:p>
          <a:p>
            <a:pPr marL="194512" lvl="1" indent="-97256" algn="l">
              <a:lnSpc>
                <a:spcPts val="1576"/>
              </a:lnSpc>
              <a:buFont typeface="Arial"/>
              <a:buChar char="•"/>
            </a:pPr>
            <a:r>
              <a:rPr lang="en-US" sz="900">
                <a:solidFill>
                  <a:srgbClr val="FFFFFF"/>
                </a:solidFill>
                <a:latin typeface="Poppins"/>
                <a:ea typeface="Poppins"/>
                <a:cs typeface="Poppins"/>
                <a:sym typeface="Poppins"/>
              </a:rPr>
              <a:t>Système d’exploitation : Windows, Linux </a:t>
            </a:r>
          </a:p>
          <a:p>
            <a:pPr marL="194512" lvl="1" indent="-97256" algn="l">
              <a:lnSpc>
                <a:spcPts val="1576"/>
              </a:lnSpc>
              <a:buFont typeface="Arial"/>
              <a:buChar char="•"/>
            </a:pPr>
            <a:r>
              <a:rPr lang="en-US" sz="900">
                <a:solidFill>
                  <a:srgbClr val="FFFFFF"/>
                </a:solidFill>
                <a:latin typeface="Poppins"/>
                <a:ea typeface="Poppins"/>
                <a:cs typeface="Poppins"/>
                <a:sym typeface="Poppins"/>
              </a:rPr>
              <a:t>Bureautique : </a:t>
            </a:r>
          </a:p>
          <a:p>
            <a:pPr algn="l">
              <a:lnSpc>
                <a:spcPts val="1576"/>
              </a:lnSpc>
            </a:pPr>
            <a:r>
              <a:rPr lang="en-US" sz="900">
                <a:solidFill>
                  <a:srgbClr val="FFFFFF"/>
                </a:solidFill>
                <a:latin typeface="Poppins"/>
                <a:ea typeface="Poppins"/>
                <a:cs typeface="Poppins"/>
                <a:sym typeface="Poppins"/>
              </a:rPr>
              <a:t>      Word, Access, Excel</a:t>
            </a:r>
          </a:p>
        </p:txBody>
      </p:sp>
      <p:sp>
        <p:nvSpPr>
          <p:cNvPr id="50" name="TextBox 50"/>
          <p:cNvSpPr txBox="1"/>
          <p:nvPr/>
        </p:nvSpPr>
        <p:spPr>
          <a:xfrm>
            <a:off x="658362" y="4807905"/>
            <a:ext cx="2210951" cy="155448"/>
          </a:xfrm>
          <a:prstGeom prst="rect">
            <a:avLst/>
          </a:prstGeom>
        </p:spPr>
        <p:txBody>
          <a:bodyPr lIns="0" tIns="0" rIns="0" bIns="0" rtlCol="0" anchor="t">
            <a:spAutoFit/>
          </a:bodyPr>
          <a:lstStyle/>
          <a:p>
            <a:pPr algn="l">
              <a:lnSpc>
                <a:spcPts val="1206"/>
              </a:lnSpc>
            </a:pPr>
            <a:r>
              <a:rPr lang="en-US" sz="900" spc="14">
                <a:solidFill>
                  <a:srgbClr val="FFFFFF"/>
                </a:solidFill>
                <a:latin typeface="Poppins"/>
                <a:ea typeface="Poppins"/>
                <a:cs typeface="Poppins"/>
                <a:sym typeface="Poppins"/>
              </a:rPr>
              <a:t>+261 34 07 143 74 , +261 32 76 139 34</a:t>
            </a:r>
          </a:p>
        </p:txBody>
      </p:sp>
      <p:sp>
        <p:nvSpPr>
          <p:cNvPr id="51" name="TextBox 51"/>
          <p:cNvSpPr txBox="1"/>
          <p:nvPr/>
        </p:nvSpPr>
        <p:spPr>
          <a:xfrm>
            <a:off x="658362" y="5309332"/>
            <a:ext cx="2147122" cy="307848"/>
          </a:xfrm>
          <a:prstGeom prst="rect">
            <a:avLst/>
          </a:prstGeom>
        </p:spPr>
        <p:txBody>
          <a:bodyPr lIns="0" tIns="0" rIns="0" bIns="0" rtlCol="0" anchor="t">
            <a:spAutoFit/>
          </a:bodyPr>
          <a:lstStyle/>
          <a:p>
            <a:pPr algn="l">
              <a:lnSpc>
                <a:spcPts val="1205"/>
              </a:lnSpc>
            </a:pPr>
            <a:r>
              <a:rPr lang="en-US" sz="899" spc="14">
                <a:solidFill>
                  <a:srgbClr val="FFFFFF"/>
                </a:solidFill>
                <a:latin typeface="Poppins"/>
                <a:ea typeface="Poppins"/>
                <a:cs typeface="Poppins"/>
                <a:sym typeface="Poppins"/>
              </a:rPr>
              <a:t>Mahamanina Lot 095A/3603 </a:t>
            </a:r>
          </a:p>
          <a:p>
            <a:pPr algn="l">
              <a:lnSpc>
                <a:spcPts val="1205"/>
              </a:lnSpc>
            </a:pPr>
            <a:r>
              <a:rPr lang="en-US" sz="899" spc="14">
                <a:solidFill>
                  <a:srgbClr val="FFFFFF"/>
                </a:solidFill>
                <a:latin typeface="Poppins"/>
                <a:ea typeface="Poppins"/>
                <a:cs typeface="Poppins"/>
                <a:sym typeface="Poppins"/>
              </a:rPr>
              <a:t>Fianarantsoa</a:t>
            </a:r>
          </a:p>
        </p:txBody>
      </p:sp>
      <p:sp>
        <p:nvSpPr>
          <p:cNvPr id="52" name="TextBox 52"/>
          <p:cNvSpPr txBox="1"/>
          <p:nvPr/>
        </p:nvSpPr>
        <p:spPr>
          <a:xfrm>
            <a:off x="658362" y="4323504"/>
            <a:ext cx="1872249" cy="155448"/>
          </a:xfrm>
          <a:prstGeom prst="rect">
            <a:avLst/>
          </a:prstGeom>
        </p:spPr>
        <p:txBody>
          <a:bodyPr lIns="0" tIns="0" rIns="0" bIns="0" rtlCol="0" anchor="t">
            <a:spAutoFit/>
          </a:bodyPr>
          <a:lstStyle/>
          <a:p>
            <a:pPr algn="l">
              <a:lnSpc>
                <a:spcPts val="1205"/>
              </a:lnSpc>
            </a:pPr>
            <a:r>
              <a:rPr lang="en-US" sz="899" spc="14">
                <a:solidFill>
                  <a:srgbClr val="FFFFFF"/>
                </a:solidFill>
                <a:latin typeface="Poppins"/>
                <a:ea typeface="Poppins"/>
                <a:cs typeface="Poppins"/>
                <a:sym typeface="Poppins"/>
              </a:rPr>
              <a:t>mampianina2002@gmail.com</a:t>
            </a:r>
          </a:p>
        </p:txBody>
      </p:sp>
      <p:sp>
        <p:nvSpPr>
          <p:cNvPr id="53" name="TextBox 53"/>
          <p:cNvSpPr txBox="1"/>
          <p:nvPr/>
        </p:nvSpPr>
        <p:spPr>
          <a:xfrm>
            <a:off x="717869" y="3429621"/>
            <a:ext cx="1695755" cy="438150"/>
          </a:xfrm>
          <a:prstGeom prst="rect">
            <a:avLst/>
          </a:prstGeom>
        </p:spPr>
        <p:txBody>
          <a:bodyPr lIns="0" tIns="0" rIns="0" bIns="0" rtlCol="0" anchor="t">
            <a:spAutoFit/>
          </a:bodyPr>
          <a:lstStyle/>
          <a:p>
            <a:pPr algn="l">
              <a:lnSpc>
                <a:spcPts val="1680"/>
              </a:lnSpc>
            </a:pPr>
            <a:r>
              <a:rPr lang="en-US" sz="1400" b="1" spc="51">
                <a:solidFill>
                  <a:srgbClr val="FFFFFF"/>
                </a:solidFill>
                <a:latin typeface="Poppins Bold"/>
                <a:ea typeface="Poppins Bold"/>
                <a:cs typeface="Poppins Bold"/>
                <a:sym typeface="Poppins Bold"/>
              </a:rPr>
              <a:t>Informations</a:t>
            </a:r>
          </a:p>
          <a:p>
            <a:pPr algn="l">
              <a:lnSpc>
                <a:spcPts val="1680"/>
              </a:lnSpc>
            </a:pPr>
            <a:r>
              <a:rPr lang="en-US" sz="1400" b="1" spc="51">
                <a:solidFill>
                  <a:srgbClr val="FFFFFF"/>
                </a:solidFill>
                <a:latin typeface="Poppins Bold"/>
                <a:ea typeface="Poppins Bold"/>
                <a:cs typeface="Poppins Bold"/>
                <a:sym typeface="Poppins Bold"/>
              </a:rPr>
              <a:t>personnelles</a:t>
            </a:r>
          </a:p>
        </p:txBody>
      </p:sp>
      <p:sp>
        <p:nvSpPr>
          <p:cNvPr id="54" name="TextBox 54"/>
          <p:cNvSpPr txBox="1"/>
          <p:nvPr/>
        </p:nvSpPr>
        <p:spPr>
          <a:xfrm>
            <a:off x="3168163" y="693378"/>
            <a:ext cx="4349923" cy="1314814"/>
          </a:xfrm>
          <a:prstGeom prst="rect">
            <a:avLst/>
          </a:prstGeom>
        </p:spPr>
        <p:txBody>
          <a:bodyPr lIns="0" tIns="0" rIns="0" bIns="0" rtlCol="0" anchor="t">
            <a:spAutoFit/>
          </a:bodyPr>
          <a:lstStyle/>
          <a:p>
            <a:pPr algn="l">
              <a:lnSpc>
                <a:spcPts val="3311"/>
              </a:lnSpc>
            </a:pPr>
            <a:r>
              <a:rPr lang="en-US" sz="3449" b="1" spc="-51" dirty="0">
                <a:solidFill>
                  <a:srgbClr val="414042"/>
                </a:solidFill>
                <a:latin typeface="Poppins Bold"/>
                <a:ea typeface="Poppins Bold"/>
                <a:cs typeface="Poppins Bold"/>
                <a:sym typeface="Poppins Bold"/>
              </a:rPr>
              <a:t>RAZAFINDRAHOLY </a:t>
            </a:r>
            <a:r>
              <a:rPr lang="en-US" sz="3449" spc="-51" dirty="0" err="1">
                <a:solidFill>
                  <a:srgbClr val="A6A6A6"/>
                </a:solidFill>
                <a:latin typeface="Poppins"/>
                <a:ea typeface="Poppins"/>
                <a:cs typeface="Poppins"/>
                <a:sym typeface="Poppins"/>
              </a:rPr>
              <a:t>Mampianina</a:t>
            </a:r>
            <a:r>
              <a:rPr lang="en-US" sz="3449" spc="-51" dirty="0">
                <a:solidFill>
                  <a:srgbClr val="A6A6A6"/>
                </a:solidFill>
                <a:latin typeface="Poppins"/>
                <a:ea typeface="Poppins"/>
                <a:cs typeface="Poppins"/>
                <a:sym typeface="Poppins"/>
              </a:rPr>
              <a:t> Lucas </a:t>
            </a:r>
            <a:r>
              <a:rPr lang="en-US" sz="3449" spc="-51" dirty="0" err="1">
                <a:solidFill>
                  <a:srgbClr val="A6A6A6"/>
                </a:solidFill>
                <a:latin typeface="Poppins"/>
                <a:ea typeface="Poppins"/>
                <a:cs typeface="Poppins"/>
                <a:sym typeface="Poppins"/>
              </a:rPr>
              <a:t>Prenci</a:t>
            </a:r>
            <a:endParaRPr lang="en-US" sz="3449" spc="-51" dirty="0">
              <a:solidFill>
                <a:srgbClr val="A6A6A6"/>
              </a:solidFill>
              <a:latin typeface="Poppins"/>
              <a:ea typeface="Poppins"/>
              <a:cs typeface="Poppins"/>
              <a:sym typeface="Poppins"/>
            </a:endParaRPr>
          </a:p>
        </p:txBody>
      </p:sp>
      <p:sp>
        <p:nvSpPr>
          <p:cNvPr id="55" name="TextBox 55"/>
          <p:cNvSpPr txBox="1"/>
          <p:nvPr/>
        </p:nvSpPr>
        <p:spPr>
          <a:xfrm>
            <a:off x="3168163" y="2286620"/>
            <a:ext cx="3240463" cy="257175"/>
          </a:xfrm>
          <a:prstGeom prst="rect">
            <a:avLst/>
          </a:prstGeom>
        </p:spPr>
        <p:txBody>
          <a:bodyPr lIns="0" tIns="0" rIns="0" bIns="0" rtlCol="0" anchor="t">
            <a:spAutoFit/>
          </a:bodyPr>
          <a:lstStyle/>
          <a:p>
            <a:pPr algn="l">
              <a:lnSpc>
                <a:spcPts val="2100"/>
              </a:lnSpc>
            </a:pPr>
            <a:r>
              <a:rPr lang="en-US" sz="1500">
                <a:solidFill>
                  <a:srgbClr val="444440"/>
                </a:solidFill>
                <a:latin typeface="Garet"/>
                <a:ea typeface="Garet"/>
                <a:cs typeface="Garet"/>
                <a:sym typeface="Garet"/>
              </a:rPr>
              <a:t>Consultant SAP Junior</a:t>
            </a:r>
          </a:p>
        </p:txBody>
      </p:sp>
      <p:sp>
        <p:nvSpPr>
          <p:cNvPr id="56" name="TextBox 56"/>
          <p:cNvSpPr txBox="1"/>
          <p:nvPr/>
        </p:nvSpPr>
        <p:spPr>
          <a:xfrm>
            <a:off x="658362" y="5731408"/>
            <a:ext cx="1654385" cy="307848"/>
          </a:xfrm>
          <a:prstGeom prst="rect">
            <a:avLst/>
          </a:prstGeom>
        </p:spPr>
        <p:txBody>
          <a:bodyPr lIns="0" tIns="0" rIns="0" bIns="0" rtlCol="0" anchor="t">
            <a:spAutoFit/>
          </a:bodyPr>
          <a:lstStyle/>
          <a:p>
            <a:pPr algn="l">
              <a:lnSpc>
                <a:spcPts val="1206"/>
              </a:lnSpc>
            </a:pPr>
            <a:r>
              <a:rPr lang="en-US" sz="900" spc="14">
                <a:solidFill>
                  <a:srgbClr val="FFFFFF"/>
                </a:solidFill>
                <a:latin typeface="Poppins"/>
                <a:ea typeface="Poppins"/>
                <a:cs typeface="Poppins"/>
                <a:sym typeface="Poppins"/>
              </a:rPr>
              <a:t>Permis de conduire :</a:t>
            </a:r>
          </a:p>
          <a:p>
            <a:pPr algn="l">
              <a:lnSpc>
                <a:spcPts val="1206"/>
              </a:lnSpc>
            </a:pPr>
            <a:r>
              <a:rPr lang="en-US" sz="900" spc="14">
                <a:solidFill>
                  <a:srgbClr val="FFFFFF"/>
                </a:solidFill>
                <a:latin typeface="Poppins"/>
                <a:ea typeface="Poppins"/>
                <a:cs typeface="Poppins"/>
                <a:sym typeface="Poppins"/>
              </a:rPr>
              <a:t>A, B</a:t>
            </a:r>
          </a:p>
        </p:txBody>
      </p:sp>
      <p:sp>
        <p:nvSpPr>
          <p:cNvPr id="57" name="TextBox 57"/>
          <p:cNvSpPr txBox="1"/>
          <p:nvPr/>
        </p:nvSpPr>
        <p:spPr>
          <a:xfrm>
            <a:off x="658362" y="6173725"/>
            <a:ext cx="1654385" cy="155448"/>
          </a:xfrm>
          <a:prstGeom prst="rect">
            <a:avLst/>
          </a:prstGeom>
        </p:spPr>
        <p:txBody>
          <a:bodyPr lIns="0" tIns="0" rIns="0" bIns="0" rtlCol="0" anchor="t">
            <a:spAutoFit/>
          </a:bodyPr>
          <a:lstStyle/>
          <a:p>
            <a:pPr algn="l">
              <a:lnSpc>
                <a:spcPts val="1206"/>
              </a:lnSpc>
            </a:pPr>
            <a:r>
              <a:rPr lang="en-US" sz="900" spc="14">
                <a:solidFill>
                  <a:srgbClr val="FFFFFF"/>
                </a:solidFill>
                <a:latin typeface="Poppins"/>
                <a:ea typeface="Poppins"/>
                <a:cs typeface="Poppins"/>
                <a:sym typeface="Poppins"/>
              </a:rPr>
              <a:t>Lucas Princi</a:t>
            </a:r>
          </a:p>
        </p:txBody>
      </p:sp>
      <p:sp>
        <p:nvSpPr>
          <p:cNvPr id="58" name="TextBox 58"/>
          <p:cNvSpPr txBox="1"/>
          <p:nvPr/>
        </p:nvSpPr>
        <p:spPr>
          <a:xfrm>
            <a:off x="435067" y="6461634"/>
            <a:ext cx="2146536" cy="307848"/>
          </a:xfrm>
          <a:prstGeom prst="rect">
            <a:avLst/>
          </a:prstGeom>
        </p:spPr>
        <p:txBody>
          <a:bodyPr lIns="0" tIns="0" rIns="0" bIns="0" rtlCol="0" anchor="t">
            <a:spAutoFit/>
          </a:bodyPr>
          <a:lstStyle/>
          <a:p>
            <a:pPr algn="l">
              <a:lnSpc>
                <a:spcPts val="1206"/>
              </a:lnSpc>
            </a:pPr>
            <a:r>
              <a:rPr lang="en-US" sz="900" spc="14">
                <a:solidFill>
                  <a:srgbClr val="FFFFFF"/>
                </a:solidFill>
                <a:latin typeface="Poppins"/>
                <a:ea typeface="Poppins"/>
                <a:cs typeface="Poppins"/>
                <a:sym typeface="Poppins"/>
              </a:rPr>
              <a:t>Github : https://github.com/AckermanLucas</a:t>
            </a:r>
          </a:p>
        </p:txBody>
      </p:sp>
      <p:sp>
        <p:nvSpPr>
          <p:cNvPr id="59" name="TextBox 59"/>
          <p:cNvSpPr txBox="1"/>
          <p:nvPr/>
        </p:nvSpPr>
        <p:spPr>
          <a:xfrm>
            <a:off x="658362" y="4123297"/>
            <a:ext cx="1872249" cy="155448"/>
          </a:xfrm>
          <a:prstGeom prst="rect">
            <a:avLst/>
          </a:prstGeom>
        </p:spPr>
        <p:txBody>
          <a:bodyPr lIns="0" tIns="0" rIns="0" bIns="0" rtlCol="0" anchor="t">
            <a:spAutoFit/>
          </a:bodyPr>
          <a:lstStyle/>
          <a:p>
            <a:pPr algn="l">
              <a:lnSpc>
                <a:spcPts val="1205"/>
              </a:lnSpc>
            </a:pPr>
            <a:r>
              <a:rPr lang="en-US" sz="899" spc="14">
                <a:solidFill>
                  <a:srgbClr val="FFFFFF"/>
                </a:solidFill>
                <a:latin typeface="Poppins"/>
                <a:ea typeface="Poppins"/>
                <a:cs typeface="Poppins"/>
                <a:sym typeface="Poppins"/>
              </a:rPr>
              <a:t>e-mail :</a:t>
            </a:r>
          </a:p>
        </p:txBody>
      </p:sp>
      <p:sp>
        <p:nvSpPr>
          <p:cNvPr id="60" name="TextBox 60"/>
          <p:cNvSpPr txBox="1"/>
          <p:nvPr/>
        </p:nvSpPr>
        <p:spPr>
          <a:xfrm>
            <a:off x="640227" y="4599706"/>
            <a:ext cx="2210951" cy="155448"/>
          </a:xfrm>
          <a:prstGeom prst="rect">
            <a:avLst/>
          </a:prstGeom>
        </p:spPr>
        <p:txBody>
          <a:bodyPr lIns="0" tIns="0" rIns="0" bIns="0" rtlCol="0" anchor="t">
            <a:spAutoFit/>
          </a:bodyPr>
          <a:lstStyle/>
          <a:p>
            <a:pPr algn="l">
              <a:lnSpc>
                <a:spcPts val="1206"/>
              </a:lnSpc>
            </a:pPr>
            <a:r>
              <a:rPr lang="en-US" sz="900" spc="14">
                <a:solidFill>
                  <a:srgbClr val="FFFFFF"/>
                </a:solidFill>
                <a:latin typeface="Poppins"/>
                <a:ea typeface="Poppins"/>
                <a:cs typeface="Poppins"/>
                <a:sym typeface="Poppins"/>
              </a:rPr>
              <a:t>Téléphone :</a:t>
            </a:r>
          </a:p>
        </p:txBody>
      </p:sp>
      <p:sp>
        <p:nvSpPr>
          <p:cNvPr id="61" name="TextBox 61"/>
          <p:cNvSpPr txBox="1"/>
          <p:nvPr/>
        </p:nvSpPr>
        <p:spPr>
          <a:xfrm>
            <a:off x="658362" y="5087178"/>
            <a:ext cx="2147122" cy="155448"/>
          </a:xfrm>
          <a:prstGeom prst="rect">
            <a:avLst/>
          </a:prstGeom>
        </p:spPr>
        <p:txBody>
          <a:bodyPr lIns="0" tIns="0" rIns="0" bIns="0" rtlCol="0" anchor="t">
            <a:spAutoFit/>
          </a:bodyPr>
          <a:lstStyle/>
          <a:p>
            <a:pPr algn="l">
              <a:lnSpc>
                <a:spcPts val="1205"/>
              </a:lnSpc>
            </a:pPr>
            <a:r>
              <a:rPr lang="en-US" sz="899" spc="14">
                <a:solidFill>
                  <a:srgbClr val="FFFFFF"/>
                </a:solidFill>
                <a:latin typeface="Poppins"/>
                <a:ea typeface="Poppins"/>
                <a:cs typeface="Poppins"/>
                <a:sym typeface="Poppins"/>
              </a:rPr>
              <a:t>Adresse :</a:t>
            </a:r>
          </a:p>
        </p:txBody>
      </p:sp>
      <p:sp>
        <p:nvSpPr>
          <p:cNvPr id="62" name="TextBox 62"/>
          <p:cNvSpPr txBox="1"/>
          <p:nvPr/>
        </p:nvSpPr>
        <p:spPr>
          <a:xfrm>
            <a:off x="3209718" y="8061919"/>
            <a:ext cx="2959465" cy="276225"/>
          </a:xfrm>
          <a:prstGeom prst="rect">
            <a:avLst/>
          </a:prstGeom>
        </p:spPr>
        <p:txBody>
          <a:bodyPr lIns="0" tIns="0" rIns="0" bIns="0" rtlCol="0" anchor="t">
            <a:spAutoFit/>
          </a:bodyPr>
          <a:lstStyle/>
          <a:p>
            <a:pPr algn="l">
              <a:lnSpc>
                <a:spcPts val="2100"/>
              </a:lnSpc>
            </a:pPr>
            <a:r>
              <a:rPr lang="en-US" sz="1500" b="1">
                <a:solidFill>
                  <a:srgbClr val="444440"/>
                </a:solidFill>
                <a:latin typeface="Poppins Bold"/>
                <a:ea typeface="Poppins Bold"/>
                <a:cs typeface="Poppins Bold"/>
                <a:sym typeface="Poppins Bold"/>
              </a:rPr>
              <a:t>Formations &amp; Diplômes</a:t>
            </a:r>
          </a:p>
        </p:txBody>
      </p:sp>
      <p:sp>
        <p:nvSpPr>
          <p:cNvPr id="63" name="TextBox 63"/>
          <p:cNvSpPr txBox="1"/>
          <p:nvPr/>
        </p:nvSpPr>
        <p:spPr>
          <a:xfrm>
            <a:off x="3412216" y="8987241"/>
            <a:ext cx="4022276" cy="200660"/>
          </a:xfrm>
          <a:prstGeom prst="rect">
            <a:avLst/>
          </a:prstGeom>
        </p:spPr>
        <p:txBody>
          <a:bodyPr lIns="0" tIns="0" rIns="0" bIns="0" rtlCol="0" anchor="t">
            <a:spAutoFit/>
          </a:bodyPr>
          <a:lstStyle/>
          <a:p>
            <a:pPr algn="l">
              <a:lnSpc>
                <a:spcPts val="1540"/>
              </a:lnSpc>
            </a:pPr>
            <a:r>
              <a:rPr lang="en-US" sz="1100" b="1" spc="-3">
                <a:solidFill>
                  <a:srgbClr val="414042"/>
                </a:solidFill>
                <a:latin typeface="Poppins Medium"/>
                <a:ea typeface="Poppins Medium"/>
                <a:cs typeface="Poppins Medium"/>
                <a:sym typeface="Poppins Medium"/>
              </a:rPr>
              <a:t>Master II en Modélisation et Ingénierie Informatique</a:t>
            </a:r>
          </a:p>
        </p:txBody>
      </p:sp>
      <p:sp>
        <p:nvSpPr>
          <p:cNvPr id="64" name="TextBox 64"/>
          <p:cNvSpPr txBox="1"/>
          <p:nvPr/>
        </p:nvSpPr>
        <p:spPr>
          <a:xfrm>
            <a:off x="3414944" y="8357194"/>
            <a:ext cx="1621266"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2023 - 2024</a:t>
            </a:r>
          </a:p>
        </p:txBody>
      </p:sp>
      <p:sp>
        <p:nvSpPr>
          <p:cNvPr id="65" name="TextBox 65"/>
          <p:cNvSpPr txBox="1"/>
          <p:nvPr/>
        </p:nvSpPr>
        <p:spPr>
          <a:xfrm>
            <a:off x="3412216" y="8524580"/>
            <a:ext cx="3825234" cy="424561"/>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Ecole de Management et d’Innovation Technologique l Fianarantsoa, Madagascar</a:t>
            </a:r>
          </a:p>
        </p:txBody>
      </p:sp>
      <p:sp>
        <p:nvSpPr>
          <p:cNvPr id="66" name="TextBox 66"/>
          <p:cNvSpPr txBox="1"/>
          <p:nvPr/>
        </p:nvSpPr>
        <p:spPr>
          <a:xfrm>
            <a:off x="3426229" y="9967809"/>
            <a:ext cx="4022276" cy="200660"/>
          </a:xfrm>
          <a:prstGeom prst="rect">
            <a:avLst/>
          </a:prstGeom>
        </p:spPr>
        <p:txBody>
          <a:bodyPr lIns="0" tIns="0" rIns="0" bIns="0" rtlCol="0" anchor="t">
            <a:spAutoFit/>
          </a:bodyPr>
          <a:lstStyle/>
          <a:p>
            <a:pPr algn="l">
              <a:lnSpc>
                <a:spcPts val="1540"/>
              </a:lnSpc>
            </a:pPr>
            <a:r>
              <a:rPr lang="en-US" sz="1100" b="1" spc="-3">
                <a:solidFill>
                  <a:srgbClr val="414042"/>
                </a:solidFill>
                <a:latin typeface="Poppins Medium"/>
                <a:ea typeface="Poppins Medium"/>
                <a:cs typeface="Poppins Medium"/>
                <a:sym typeface="Poppins Medium"/>
              </a:rPr>
              <a:t>Master I en Modélisation et Ingénierie Informatique</a:t>
            </a:r>
          </a:p>
        </p:txBody>
      </p:sp>
      <p:sp>
        <p:nvSpPr>
          <p:cNvPr id="67" name="TextBox 67"/>
          <p:cNvSpPr txBox="1"/>
          <p:nvPr/>
        </p:nvSpPr>
        <p:spPr>
          <a:xfrm>
            <a:off x="3414944" y="9337761"/>
            <a:ext cx="1621266"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2022 - 2023</a:t>
            </a:r>
          </a:p>
        </p:txBody>
      </p:sp>
      <p:sp>
        <p:nvSpPr>
          <p:cNvPr id="68" name="TextBox 68"/>
          <p:cNvSpPr txBox="1"/>
          <p:nvPr/>
        </p:nvSpPr>
        <p:spPr>
          <a:xfrm>
            <a:off x="3412216" y="9505148"/>
            <a:ext cx="3825234" cy="424561"/>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Ecole de Management et d’Innovation Technologique l Fianarantsoa, Madagascar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2905923" cy="10692000"/>
            <a:chOff x="0" y="0"/>
            <a:chExt cx="1041417" cy="3831771"/>
          </a:xfrm>
        </p:grpSpPr>
        <p:sp>
          <p:nvSpPr>
            <p:cNvPr id="3" name="Freeform 3"/>
            <p:cNvSpPr/>
            <p:nvPr/>
          </p:nvSpPr>
          <p:spPr>
            <a:xfrm>
              <a:off x="0" y="0"/>
              <a:ext cx="1041417" cy="3831772"/>
            </a:xfrm>
            <a:custGeom>
              <a:avLst/>
              <a:gdLst/>
              <a:ahLst/>
              <a:cxnLst/>
              <a:rect l="l" t="t" r="r" b="b"/>
              <a:pathLst>
                <a:path w="1041417" h="3831772">
                  <a:moveTo>
                    <a:pt x="0" y="0"/>
                  </a:moveTo>
                  <a:lnTo>
                    <a:pt x="1041417" y="0"/>
                  </a:lnTo>
                  <a:lnTo>
                    <a:pt x="1041417" y="3831772"/>
                  </a:lnTo>
                  <a:lnTo>
                    <a:pt x="0" y="3831772"/>
                  </a:lnTo>
                  <a:close/>
                </a:path>
              </a:pathLst>
            </a:custGeom>
            <a:solidFill>
              <a:srgbClr val="31323D"/>
            </a:solidFill>
          </p:spPr>
        </p:sp>
        <p:sp>
          <p:nvSpPr>
            <p:cNvPr id="4" name="TextBox 4"/>
            <p:cNvSpPr txBox="1"/>
            <p:nvPr/>
          </p:nvSpPr>
          <p:spPr>
            <a:xfrm>
              <a:off x="0" y="-47625"/>
              <a:ext cx="1041417" cy="3879396"/>
            </a:xfrm>
            <a:prstGeom prst="rect">
              <a:avLst/>
            </a:prstGeom>
          </p:spPr>
          <p:txBody>
            <a:bodyPr lIns="50800" tIns="50800" rIns="50800" bIns="50800" rtlCol="0" anchor="ctr"/>
            <a:lstStyle/>
            <a:p>
              <a:pPr algn="ctr">
                <a:lnSpc>
                  <a:spcPts val="2100"/>
                </a:lnSpc>
              </a:pPr>
              <a:endParaRPr/>
            </a:p>
          </p:txBody>
        </p:sp>
      </p:grpSp>
      <p:sp>
        <p:nvSpPr>
          <p:cNvPr id="5" name="AutoShape 5"/>
          <p:cNvSpPr/>
          <p:nvPr/>
        </p:nvSpPr>
        <p:spPr>
          <a:xfrm>
            <a:off x="3254060" y="437055"/>
            <a:ext cx="0" cy="3212480"/>
          </a:xfrm>
          <a:prstGeom prst="line">
            <a:avLst/>
          </a:prstGeom>
          <a:ln w="9525" cap="flat">
            <a:solidFill>
              <a:srgbClr val="323B4C"/>
            </a:solidFill>
            <a:prstDash val="solid"/>
            <a:headEnd type="none" w="sm" len="sm"/>
            <a:tailEnd type="none" w="sm" len="sm"/>
          </a:ln>
        </p:spPr>
      </p:sp>
      <p:grpSp>
        <p:nvGrpSpPr>
          <p:cNvPr id="6" name="Group 6"/>
          <p:cNvGrpSpPr>
            <a:grpSpLocks noChangeAspect="1"/>
          </p:cNvGrpSpPr>
          <p:nvPr/>
        </p:nvGrpSpPr>
        <p:grpSpPr>
          <a:xfrm>
            <a:off x="3202711" y="420355"/>
            <a:ext cx="100341" cy="100341"/>
            <a:chOff x="0" y="0"/>
            <a:chExt cx="91491" cy="91491"/>
          </a:xfrm>
        </p:grpSpPr>
        <p:sp>
          <p:nvSpPr>
            <p:cNvPr id="7" name="Freeform 7"/>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grpSp>
        <p:nvGrpSpPr>
          <p:cNvPr id="8" name="Group 8"/>
          <p:cNvGrpSpPr>
            <a:grpSpLocks noChangeAspect="1"/>
          </p:cNvGrpSpPr>
          <p:nvPr/>
        </p:nvGrpSpPr>
        <p:grpSpPr>
          <a:xfrm>
            <a:off x="3219411" y="437055"/>
            <a:ext cx="66941" cy="66941"/>
            <a:chOff x="0" y="0"/>
            <a:chExt cx="91491" cy="91491"/>
          </a:xfrm>
        </p:grpSpPr>
        <p:sp>
          <p:nvSpPr>
            <p:cNvPr id="9" name="Freeform 9"/>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FFFFFF"/>
            </a:solidFill>
          </p:spPr>
        </p:sp>
      </p:grpSp>
      <p:grpSp>
        <p:nvGrpSpPr>
          <p:cNvPr id="10" name="Group 10"/>
          <p:cNvGrpSpPr>
            <a:grpSpLocks noChangeAspect="1"/>
          </p:cNvGrpSpPr>
          <p:nvPr/>
        </p:nvGrpSpPr>
        <p:grpSpPr>
          <a:xfrm>
            <a:off x="3203889" y="1568133"/>
            <a:ext cx="100341" cy="100341"/>
            <a:chOff x="0" y="0"/>
            <a:chExt cx="91491" cy="91491"/>
          </a:xfrm>
        </p:grpSpPr>
        <p:sp>
          <p:nvSpPr>
            <p:cNvPr id="11" name="Freeform 11"/>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grpSp>
        <p:nvGrpSpPr>
          <p:cNvPr id="12" name="Group 12"/>
          <p:cNvGrpSpPr>
            <a:grpSpLocks noChangeAspect="1"/>
          </p:cNvGrpSpPr>
          <p:nvPr/>
        </p:nvGrpSpPr>
        <p:grpSpPr>
          <a:xfrm>
            <a:off x="3220589" y="1584833"/>
            <a:ext cx="66941" cy="66941"/>
            <a:chOff x="0" y="0"/>
            <a:chExt cx="91491" cy="91491"/>
          </a:xfrm>
        </p:grpSpPr>
        <p:sp>
          <p:nvSpPr>
            <p:cNvPr id="13" name="Freeform 13"/>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FFFFFF"/>
            </a:solidFill>
          </p:spPr>
        </p:sp>
      </p:grpSp>
      <p:sp>
        <p:nvSpPr>
          <p:cNvPr id="14" name="TextBox 14"/>
          <p:cNvSpPr txBox="1"/>
          <p:nvPr/>
        </p:nvSpPr>
        <p:spPr>
          <a:xfrm>
            <a:off x="3402482" y="993252"/>
            <a:ext cx="4022276" cy="200660"/>
          </a:xfrm>
          <a:prstGeom prst="rect">
            <a:avLst/>
          </a:prstGeom>
        </p:spPr>
        <p:txBody>
          <a:bodyPr lIns="0" tIns="0" rIns="0" bIns="0" rtlCol="0" anchor="t">
            <a:spAutoFit/>
          </a:bodyPr>
          <a:lstStyle/>
          <a:p>
            <a:pPr algn="l">
              <a:lnSpc>
                <a:spcPts val="1540"/>
              </a:lnSpc>
            </a:pPr>
            <a:r>
              <a:rPr lang="en-US" sz="1100" b="1" spc="-3">
                <a:solidFill>
                  <a:srgbClr val="414042"/>
                </a:solidFill>
                <a:latin typeface="Poppins Medium"/>
                <a:ea typeface="Poppins Medium"/>
                <a:cs typeface="Poppins Medium"/>
                <a:sym typeface="Poppins Medium"/>
              </a:rPr>
              <a:t>L3 en Développement d’Application Internet et Intranet </a:t>
            </a:r>
          </a:p>
        </p:txBody>
      </p:sp>
      <p:sp>
        <p:nvSpPr>
          <p:cNvPr id="15" name="TextBox 15"/>
          <p:cNvSpPr txBox="1"/>
          <p:nvPr/>
        </p:nvSpPr>
        <p:spPr>
          <a:xfrm>
            <a:off x="3405209" y="363205"/>
            <a:ext cx="1621266"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2021 - 2022</a:t>
            </a:r>
          </a:p>
        </p:txBody>
      </p:sp>
      <p:sp>
        <p:nvSpPr>
          <p:cNvPr id="16" name="TextBox 16"/>
          <p:cNvSpPr txBox="1"/>
          <p:nvPr/>
        </p:nvSpPr>
        <p:spPr>
          <a:xfrm>
            <a:off x="3402482" y="530591"/>
            <a:ext cx="3825234" cy="424561"/>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Ecole de Management et d’Innovation Technologique l Fianarantsoa, Madagascar</a:t>
            </a:r>
          </a:p>
        </p:txBody>
      </p:sp>
      <p:sp>
        <p:nvSpPr>
          <p:cNvPr id="17" name="TextBox 17"/>
          <p:cNvSpPr txBox="1"/>
          <p:nvPr/>
        </p:nvSpPr>
        <p:spPr>
          <a:xfrm>
            <a:off x="3412575" y="2117033"/>
            <a:ext cx="4022276" cy="200660"/>
          </a:xfrm>
          <a:prstGeom prst="rect">
            <a:avLst/>
          </a:prstGeom>
        </p:spPr>
        <p:txBody>
          <a:bodyPr lIns="0" tIns="0" rIns="0" bIns="0" rtlCol="0" anchor="t">
            <a:spAutoFit/>
          </a:bodyPr>
          <a:lstStyle/>
          <a:p>
            <a:pPr algn="l">
              <a:lnSpc>
                <a:spcPts val="1540"/>
              </a:lnSpc>
            </a:pPr>
            <a:r>
              <a:rPr lang="en-US" sz="1100" b="1" spc="-3">
                <a:solidFill>
                  <a:srgbClr val="414042"/>
                </a:solidFill>
                <a:latin typeface="Poppins Medium"/>
                <a:ea typeface="Poppins Medium"/>
                <a:cs typeface="Poppins Medium"/>
                <a:sym typeface="Poppins Medium"/>
              </a:rPr>
              <a:t>L2 en Développement d’Application Internet et Intranet </a:t>
            </a:r>
          </a:p>
        </p:txBody>
      </p:sp>
      <p:sp>
        <p:nvSpPr>
          <p:cNvPr id="18" name="TextBox 18"/>
          <p:cNvSpPr txBox="1"/>
          <p:nvPr/>
        </p:nvSpPr>
        <p:spPr>
          <a:xfrm>
            <a:off x="3401290" y="1486985"/>
            <a:ext cx="1621266"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2020 - 2021</a:t>
            </a:r>
          </a:p>
        </p:txBody>
      </p:sp>
      <p:sp>
        <p:nvSpPr>
          <p:cNvPr id="19" name="TextBox 19"/>
          <p:cNvSpPr txBox="1"/>
          <p:nvPr/>
        </p:nvSpPr>
        <p:spPr>
          <a:xfrm>
            <a:off x="3398562" y="1654371"/>
            <a:ext cx="3825234" cy="424561"/>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Ecole de Management et d’Innovation Technologique l Fianarantsoa, Madagascar</a:t>
            </a:r>
          </a:p>
        </p:txBody>
      </p:sp>
      <p:sp>
        <p:nvSpPr>
          <p:cNvPr id="20" name="TextBox 20"/>
          <p:cNvSpPr txBox="1"/>
          <p:nvPr/>
        </p:nvSpPr>
        <p:spPr>
          <a:xfrm>
            <a:off x="3398562" y="1254872"/>
            <a:ext cx="3797208" cy="135255"/>
          </a:xfrm>
          <a:prstGeom prst="rect">
            <a:avLst/>
          </a:prstGeom>
        </p:spPr>
        <p:txBody>
          <a:bodyPr lIns="0" tIns="0" rIns="0" bIns="0" rtlCol="0" anchor="t">
            <a:spAutoFit/>
          </a:bodyPr>
          <a:lstStyle/>
          <a:p>
            <a:pPr algn="just">
              <a:lnSpc>
                <a:spcPts val="1050"/>
              </a:lnSpc>
            </a:pPr>
            <a:r>
              <a:rPr lang="en-US" sz="700" spc="14">
                <a:solidFill>
                  <a:srgbClr val="737373"/>
                </a:solidFill>
                <a:latin typeface="Poppins Light"/>
                <a:ea typeface="Poppins Light"/>
                <a:cs typeface="Poppins Light"/>
                <a:sym typeface="Poppins Light"/>
              </a:rPr>
              <a:t>Obtention du diplôme de Licence en Informatique</a:t>
            </a:r>
          </a:p>
        </p:txBody>
      </p:sp>
      <p:grpSp>
        <p:nvGrpSpPr>
          <p:cNvPr id="21" name="Group 21"/>
          <p:cNvGrpSpPr>
            <a:grpSpLocks noChangeAspect="1"/>
          </p:cNvGrpSpPr>
          <p:nvPr/>
        </p:nvGrpSpPr>
        <p:grpSpPr>
          <a:xfrm>
            <a:off x="3203889" y="2483233"/>
            <a:ext cx="100341" cy="100341"/>
            <a:chOff x="0" y="0"/>
            <a:chExt cx="91491" cy="91491"/>
          </a:xfrm>
        </p:grpSpPr>
        <p:sp>
          <p:nvSpPr>
            <p:cNvPr id="22" name="Freeform 22"/>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grpSp>
        <p:nvGrpSpPr>
          <p:cNvPr id="23" name="Group 23"/>
          <p:cNvGrpSpPr>
            <a:grpSpLocks noChangeAspect="1"/>
          </p:cNvGrpSpPr>
          <p:nvPr/>
        </p:nvGrpSpPr>
        <p:grpSpPr>
          <a:xfrm>
            <a:off x="3220589" y="2499933"/>
            <a:ext cx="66941" cy="66941"/>
            <a:chOff x="0" y="0"/>
            <a:chExt cx="91491" cy="91491"/>
          </a:xfrm>
        </p:grpSpPr>
        <p:sp>
          <p:nvSpPr>
            <p:cNvPr id="24" name="Freeform 24"/>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FFFFFF"/>
            </a:solidFill>
          </p:spPr>
        </p:sp>
      </p:grpSp>
      <p:sp>
        <p:nvSpPr>
          <p:cNvPr id="25" name="TextBox 25"/>
          <p:cNvSpPr txBox="1"/>
          <p:nvPr/>
        </p:nvSpPr>
        <p:spPr>
          <a:xfrm>
            <a:off x="3412575" y="3042990"/>
            <a:ext cx="4022276" cy="200660"/>
          </a:xfrm>
          <a:prstGeom prst="rect">
            <a:avLst/>
          </a:prstGeom>
        </p:spPr>
        <p:txBody>
          <a:bodyPr lIns="0" tIns="0" rIns="0" bIns="0" rtlCol="0" anchor="t">
            <a:spAutoFit/>
          </a:bodyPr>
          <a:lstStyle/>
          <a:p>
            <a:pPr algn="l">
              <a:lnSpc>
                <a:spcPts val="1540"/>
              </a:lnSpc>
            </a:pPr>
            <a:r>
              <a:rPr lang="en-US" sz="1100" b="1" spc="-3">
                <a:solidFill>
                  <a:srgbClr val="414042"/>
                </a:solidFill>
                <a:latin typeface="Poppins Medium"/>
                <a:ea typeface="Poppins Medium"/>
                <a:cs typeface="Poppins Medium"/>
                <a:sym typeface="Poppins Medium"/>
              </a:rPr>
              <a:t>L1 en Développement d’Application Internet et Intranet </a:t>
            </a:r>
          </a:p>
        </p:txBody>
      </p:sp>
      <p:sp>
        <p:nvSpPr>
          <p:cNvPr id="26" name="TextBox 26"/>
          <p:cNvSpPr txBox="1"/>
          <p:nvPr/>
        </p:nvSpPr>
        <p:spPr>
          <a:xfrm>
            <a:off x="3401290" y="2412943"/>
            <a:ext cx="1621266"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2018 - 2019</a:t>
            </a:r>
          </a:p>
        </p:txBody>
      </p:sp>
      <p:sp>
        <p:nvSpPr>
          <p:cNvPr id="27" name="TextBox 27"/>
          <p:cNvSpPr txBox="1"/>
          <p:nvPr/>
        </p:nvSpPr>
        <p:spPr>
          <a:xfrm>
            <a:off x="3398562" y="2580329"/>
            <a:ext cx="3825234" cy="424561"/>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Ecole de Management et d’Innovation Technologique l Fianarantsoa, Madagascar</a:t>
            </a:r>
          </a:p>
        </p:txBody>
      </p:sp>
      <p:sp>
        <p:nvSpPr>
          <p:cNvPr id="28" name="TextBox 28"/>
          <p:cNvSpPr txBox="1"/>
          <p:nvPr/>
        </p:nvSpPr>
        <p:spPr>
          <a:xfrm>
            <a:off x="717869" y="373536"/>
            <a:ext cx="1641324" cy="259715"/>
          </a:xfrm>
          <a:prstGeom prst="rect">
            <a:avLst/>
          </a:prstGeom>
        </p:spPr>
        <p:txBody>
          <a:bodyPr lIns="0" tIns="0" rIns="0" bIns="0" rtlCol="0" anchor="t">
            <a:spAutoFit/>
          </a:bodyPr>
          <a:lstStyle/>
          <a:p>
            <a:pPr algn="l">
              <a:lnSpc>
                <a:spcPts val="1960"/>
              </a:lnSpc>
            </a:pPr>
            <a:r>
              <a:rPr lang="en-US" sz="1400" b="1">
                <a:solidFill>
                  <a:srgbClr val="FFFFFF"/>
                </a:solidFill>
                <a:latin typeface="Poppins Bold"/>
                <a:ea typeface="Poppins Bold"/>
                <a:cs typeface="Poppins Bold"/>
                <a:sym typeface="Poppins Bold"/>
              </a:rPr>
              <a:t>Qualités</a:t>
            </a:r>
          </a:p>
        </p:txBody>
      </p:sp>
      <p:sp>
        <p:nvSpPr>
          <p:cNvPr id="29" name="TextBox 29"/>
          <p:cNvSpPr txBox="1"/>
          <p:nvPr/>
        </p:nvSpPr>
        <p:spPr>
          <a:xfrm>
            <a:off x="482655" y="690369"/>
            <a:ext cx="2268328" cy="565348"/>
          </a:xfrm>
          <a:prstGeom prst="rect">
            <a:avLst/>
          </a:prstGeom>
        </p:spPr>
        <p:txBody>
          <a:bodyPr lIns="0" tIns="0" rIns="0" bIns="0" rtlCol="0" anchor="t">
            <a:spAutoFit/>
          </a:bodyPr>
          <a:lstStyle/>
          <a:p>
            <a:pPr marL="194512" lvl="1" indent="-97256" algn="l">
              <a:lnSpc>
                <a:spcPts val="1504"/>
              </a:lnSpc>
              <a:buFont typeface="Arial"/>
              <a:buChar char="•"/>
            </a:pPr>
            <a:r>
              <a:rPr lang="en-US" sz="900">
                <a:solidFill>
                  <a:srgbClr val="FFFFFF"/>
                </a:solidFill>
                <a:latin typeface="Poppins"/>
                <a:ea typeface="Poppins"/>
                <a:cs typeface="Poppins"/>
                <a:sym typeface="Poppins"/>
              </a:rPr>
              <a:t>Fiable et rigoureux</a:t>
            </a:r>
          </a:p>
          <a:p>
            <a:pPr marL="194512" lvl="1" indent="-97256" algn="l">
              <a:lnSpc>
                <a:spcPts val="1504"/>
              </a:lnSpc>
              <a:buFont typeface="Arial"/>
              <a:buChar char="•"/>
            </a:pPr>
            <a:r>
              <a:rPr lang="en-US" sz="900">
                <a:solidFill>
                  <a:srgbClr val="FFFFFF"/>
                </a:solidFill>
                <a:latin typeface="Poppins"/>
                <a:ea typeface="Poppins"/>
                <a:cs typeface="Poppins"/>
                <a:sym typeface="Poppins"/>
              </a:rPr>
              <a:t>Enthousiaste et curieux</a:t>
            </a:r>
          </a:p>
          <a:p>
            <a:pPr marL="194512" lvl="1" indent="-97256" algn="l">
              <a:lnSpc>
                <a:spcPts val="1504"/>
              </a:lnSpc>
              <a:buFont typeface="Arial"/>
              <a:buChar char="•"/>
            </a:pPr>
            <a:r>
              <a:rPr lang="en-US" sz="900">
                <a:solidFill>
                  <a:srgbClr val="FFFFFF"/>
                </a:solidFill>
                <a:latin typeface="Poppins"/>
                <a:ea typeface="Poppins"/>
                <a:cs typeface="Poppins"/>
                <a:sym typeface="Poppins"/>
              </a:rPr>
              <a:t>Team player</a:t>
            </a:r>
          </a:p>
        </p:txBody>
      </p:sp>
      <p:sp>
        <p:nvSpPr>
          <p:cNvPr id="30" name="TextBox 30"/>
          <p:cNvSpPr txBox="1"/>
          <p:nvPr/>
        </p:nvSpPr>
        <p:spPr>
          <a:xfrm>
            <a:off x="717869" y="1342502"/>
            <a:ext cx="1641324" cy="259715"/>
          </a:xfrm>
          <a:prstGeom prst="rect">
            <a:avLst/>
          </a:prstGeom>
        </p:spPr>
        <p:txBody>
          <a:bodyPr lIns="0" tIns="0" rIns="0" bIns="0" rtlCol="0" anchor="t">
            <a:spAutoFit/>
          </a:bodyPr>
          <a:lstStyle/>
          <a:p>
            <a:pPr algn="l">
              <a:lnSpc>
                <a:spcPts val="1960"/>
              </a:lnSpc>
            </a:pPr>
            <a:r>
              <a:rPr lang="en-US" sz="1400" b="1">
                <a:solidFill>
                  <a:srgbClr val="FFFFFF"/>
                </a:solidFill>
                <a:latin typeface="Poppins Bold"/>
                <a:ea typeface="Poppins Bold"/>
                <a:cs typeface="Poppins Bold"/>
                <a:sym typeface="Poppins Bold"/>
              </a:rPr>
              <a:t>Langues</a:t>
            </a:r>
          </a:p>
        </p:txBody>
      </p:sp>
      <p:sp>
        <p:nvSpPr>
          <p:cNvPr id="31" name="TextBox 31"/>
          <p:cNvSpPr txBox="1"/>
          <p:nvPr/>
        </p:nvSpPr>
        <p:spPr>
          <a:xfrm>
            <a:off x="482655" y="1676172"/>
            <a:ext cx="2268328" cy="557339"/>
          </a:xfrm>
          <a:prstGeom prst="rect">
            <a:avLst/>
          </a:prstGeom>
        </p:spPr>
        <p:txBody>
          <a:bodyPr lIns="0" tIns="0" rIns="0" bIns="0" rtlCol="0" anchor="t">
            <a:spAutoFit/>
          </a:bodyPr>
          <a:lstStyle/>
          <a:p>
            <a:pPr marL="194512" lvl="1" indent="-97256" algn="l">
              <a:lnSpc>
                <a:spcPts val="1567"/>
              </a:lnSpc>
              <a:buFont typeface="Arial"/>
              <a:buChar char="•"/>
            </a:pPr>
            <a:r>
              <a:rPr lang="en-US" sz="900">
                <a:solidFill>
                  <a:srgbClr val="FFFFFF"/>
                </a:solidFill>
                <a:latin typeface="Poppins"/>
                <a:ea typeface="Poppins"/>
                <a:cs typeface="Poppins"/>
                <a:sym typeface="Poppins"/>
              </a:rPr>
              <a:t>Malagasy - Langue maternelle</a:t>
            </a:r>
          </a:p>
          <a:p>
            <a:pPr marL="194512" lvl="1" indent="-97256" algn="l">
              <a:lnSpc>
                <a:spcPts val="1567"/>
              </a:lnSpc>
              <a:buFont typeface="Arial"/>
              <a:buChar char="•"/>
            </a:pPr>
            <a:r>
              <a:rPr lang="en-US" sz="900">
                <a:solidFill>
                  <a:srgbClr val="FFFFFF"/>
                </a:solidFill>
                <a:latin typeface="Poppins"/>
                <a:ea typeface="Poppins"/>
                <a:cs typeface="Poppins"/>
                <a:sym typeface="Poppins"/>
              </a:rPr>
              <a:t>Français - Excellent</a:t>
            </a:r>
          </a:p>
          <a:p>
            <a:pPr marL="194512" lvl="1" indent="-97256" algn="l">
              <a:lnSpc>
                <a:spcPts val="1567"/>
              </a:lnSpc>
              <a:buFont typeface="Arial"/>
              <a:buChar char="•"/>
            </a:pPr>
            <a:r>
              <a:rPr lang="en-US" sz="900">
                <a:solidFill>
                  <a:srgbClr val="FFFFFF"/>
                </a:solidFill>
                <a:latin typeface="Poppins"/>
                <a:ea typeface="Poppins"/>
                <a:cs typeface="Poppins"/>
                <a:sym typeface="Poppins"/>
              </a:rPr>
              <a:t>Anglais - Intermédiaire</a:t>
            </a:r>
          </a:p>
        </p:txBody>
      </p:sp>
      <p:sp>
        <p:nvSpPr>
          <p:cNvPr id="32" name="TextBox 32"/>
          <p:cNvSpPr txBox="1"/>
          <p:nvPr/>
        </p:nvSpPr>
        <p:spPr>
          <a:xfrm>
            <a:off x="717869" y="2329563"/>
            <a:ext cx="1641324" cy="259715"/>
          </a:xfrm>
          <a:prstGeom prst="rect">
            <a:avLst/>
          </a:prstGeom>
        </p:spPr>
        <p:txBody>
          <a:bodyPr lIns="0" tIns="0" rIns="0" bIns="0" rtlCol="0" anchor="t">
            <a:spAutoFit/>
          </a:bodyPr>
          <a:lstStyle/>
          <a:p>
            <a:pPr algn="l">
              <a:lnSpc>
                <a:spcPts val="1960"/>
              </a:lnSpc>
            </a:pPr>
            <a:r>
              <a:rPr lang="en-US" sz="1400" b="1">
                <a:solidFill>
                  <a:srgbClr val="FFFFFF"/>
                </a:solidFill>
                <a:latin typeface="Poppins Bold"/>
                <a:ea typeface="Poppins Bold"/>
                <a:cs typeface="Poppins Bold"/>
                <a:sym typeface="Poppins Bold"/>
              </a:rPr>
              <a:t>Centres d’intérêt</a:t>
            </a:r>
          </a:p>
        </p:txBody>
      </p:sp>
      <p:sp>
        <p:nvSpPr>
          <p:cNvPr id="33" name="TextBox 33"/>
          <p:cNvSpPr txBox="1"/>
          <p:nvPr/>
        </p:nvSpPr>
        <p:spPr>
          <a:xfrm>
            <a:off x="482655" y="2665478"/>
            <a:ext cx="2268328" cy="1132271"/>
          </a:xfrm>
          <a:prstGeom prst="rect">
            <a:avLst/>
          </a:prstGeom>
        </p:spPr>
        <p:txBody>
          <a:bodyPr lIns="0" tIns="0" rIns="0" bIns="0" rtlCol="0" anchor="t">
            <a:spAutoFit/>
          </a:bodyPr>
          <a:lstStyle/>
          <a:p>
            <a:pPr marL="194512" lvl="1" indent="-97256" algn="l">
              <a:lnSpc>
                <a:spcPts val="1540"/>
              </a:lnSpc>
              <a:buFont typeface="Arial"/>
              <a:buChar char="•"/>
            </a:pPr>
            <a:r>
              <a:rPr lang="en-US" sz="900">
                <a:solidFill>
                  <a:srgbClr val="FFFFFF"/>
                </a:solidFill>
                <a:latin typeface="Poppins"/>
                <a:ea typeface="Poppins"/>
                <a:cs typeface="Poppins"/>
                <a:sym typeface="Poppins"/>
              </a:rPr>
              <a:t>Lecture</a:t>
            </a:r>
          </a:p>
          <a:p>
            <a:pPr marL="194512" lvl="1" indent="-97256" algn="l">
              <a:lnSpc>
                <a:spcPts val="1540"/>
              </a:lnSpc>
              <a:buFont typeface="Arial"/>
              <a:buChar char="•"/>
            </a:pPr>
            <a:r>
              <a:rPr lang="en-US" sz="900">
                <a:solidFill>
                  <a:srgbClr val="FFFFFF"/>
                </a:solidFill>
                <a:latin typeface="Poppins"/>
                <a:ea typeface="Poppins"/>
                <a:cs typeface="Poppins"/>
                <a:sym typeface="Poppins"/>
              </a:rPr>
              <a:t>Internet</a:t>
            </a:r>
          </a:p>
          <a:p>
            <a:pPr marL="194512" lvl="1" indent="-97256" algn="l">
              <a:lnSpc>
                <a:spcPts val="1540"/>
              </a:lnSpc>
              <a:buFont typeface="Arial"/>
              <a:buChar char="•"/>
            </a:pPr>
            <a:r>
              <a:rPr lang="en-US" sz="900">
                <a:solidFill>
                  <a:srgbClr val="FFFFFF"/>
                </a:solidFill>
                <a:latin typeface="Poppins"/>
                <a:ea typeface="Poppins"/>
                <a:cs typeface="Poppins"/>
                <a:sym typeface="Poppins"/>
              </a:rPr>
              <a:t>Sport</a:t>
            </a:r>
          </a:p>
          <a:p>
            <a:pPr marL="194512" lvl="1" indent="-97256" algn="l">
              <a:lnSpc>
                <a:spcPts val="1540"/>
              </a:lnSpc>
              <a:buFont typeface="Arial"/>
              <a:buChar char="•"/>
            </a:pPr>
            <a:r>
              <a:rPr lang="en-US" sz="900">
                <a:solidFill>
                  <a:srgbClr val="FFFFFF"/>
                </a:solidFill>
                <a:latin typeface="Poppins"/>
                <a:ea typeface="Poppins"/>
                <a:cs typeface="Poppins"/>
                <a:sym typeface="Poppins"/>
              </a:rPr>
              <a:t>Musique</a:t>
            </a:r>
          </a:p>
          <a:p>
            <a:pPr marL="194512" lvl="1" indent="-97256" algn="l">
              <a:lnSpc>
                <a:spcPts val="1540"/>
              </a:lnSpc>
              <a:buFont typeface="Arial"/>
              <a:buChar char="•"/>
            </a:pPr>
            <a:r>
              <a:rPr lang="en-US" sz="900">
                <a:solidFill>
                  <a:srgbClr val="FFFFFF"/>
                </a:solidFill>
                <a:latin typeface="Poppins"/>
                <a:ea typeface="Poppins"/>
                <a:cs typeface="Poppins"/>
                <a:sym typeface="Poppins"/>
              </a:rPr>
              <a:t>Coder</a:t>
            </a:r>
          </a:p>
          <a:p>
            <a:pPr marL="194512" lvl="1" indent="-97256" algn="l">
              <a:lnSpc>
                <a:spcPts val="1540"/>
              </a:lnSpc>
              <a:buFont typeface="Arial"/>
              <a:buChar char="•"/>
            </a:pPr>
            <a:r>
              <a:rPr lang="en-US" sz="900">
                <a:solidFill>
                  <a:srgbClr val="FFFFFF"/>
                </a:solidFill>
                <a:latin typeface="Poppins"/>
                <a:ea typeface="Poppins"/>
                <a:cs typeface="Poppins"/>
                <a:sym typeface="Poppins"/>
              </a:rPr>
              <a:t>Jeux Vidéo</a:t>
            </a:r>
          </a:p>
        </p:txBody>
      </p:sp>
      <p:grpSp>
        <p:nvGrpSpPr>
          <p:cNvPr id="34" name="Group 34"/>
          <p:cNvGrpSpPr>
            <a:grpSpLocks noChangeAspect="1"/>
          </p:cNvGrpSpPr>
          <p:nvPr/>
        </p:nvGrpSpPr>
        <p:grpSpPr>
          <a:xfrm>
            <a:off x="3242690" y="5294365"/>
            <a:ext cx="100341" cy="100341"/>
            <a:chOff x="0" y="0"/>
            <a:chExt cx="91491" cy="91491"/>
          </a:xfrm>
        </p:grpSpPr>
        <p:sp>
          <p:nvSpPr>
            <p:cNvPr id="35" name="Freeform 35"/>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grpSp>
        <p:nvGrpSpPr>
          <p:cNvPr id="36" name="Group 36"/>
          <p:cNvGrpSpPr>
            <a:grpSpLocks noChangeAspect="1"/>
          </p:cNvGrpSpPr>
          <p:nvPr/>
        </p:nvGrpSpPr>
        <p:grpSpPr>
          <a:xfrm>
            <a:off x="3239757" y="5910709"/>
            <a:ext cx="100341" cy="100341"/>
            <a:chOff x="0" y="0"/>
            <a:chExt cx="91491" cy="91491"/>
          </a:xfrm>
        </p:grpSpPr>
        <p:sp>
          <p:nvSpPr>
            <p:cNvPr id="37" name="Freeform 37"/>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sp>
        <p:nvSpPr>
          <p:cNvPr id="38" name="TextBox 38"/>
          <p:cNvSpPr txBox="1"/>
          <p:nvPr/>
        </p:nvSpPr>
        <p:spPr>
          <a:xfrm>
            <a:off x="3202711" y="3925759"/>
            <a:ext cx="2959465" cy="276225"/>
          </a:xfrm>
          <a:prstGeom prst="rect">
            <a:avLst/>
          </a:prstGeom>
        </p:spPr>
        <p:txBody>
          <a:bodyPr lIns="0" tIns="0" rIns="0" bIns="0" rtlCol="0" anchor="t">
            <a:spAutoFit/>
          </a:bodyPr>
          <a:lstStyle/>
          <a:p>
            <a:pPr algn="l">
              <a:lnSpc>
                <a:spcPts val="2100"/>
              </a:lnSpc>
            </a:pPr>
            <a:r>
              <a:rPr lang="en-US" sz="1500" b="1">
                <a:solidFill>
                  <a:srgbClr val="444440"/>
                </a:solidFill>
                <a:latin typeface="Poppins Bold"/>
                <a:ea typeface="Poppins Bold"/>
                <a:cs typeface="Poppins Bold"/>
                <a:sym typeface="Poppins Bold"/>
              </a:rPr>
              <a:t>Projet</a:t>
            </a:r>
          </a:p>
        </p:txBody>
      </p:sp>
      <p:sp>
        <p:nvSpPr>
          <p:cNvPr id="39" name="TextBox 39"/>
          <p:cNvSpPr txBox="1"/>
          <p:nvPr/>
        </p:nvSpPr>
        <p:spPr>
          <a:xfrm>
            <a:off x="3447711" y="5488887"/>
            <a:ext cx="3906863" cy="148590"/>
          </a:xfrm>
          <a:prstGeom prst="rect">
            <a:avLst/>
          </a:prstGeom>
        </p:spPr>
        <p:txBody>
          <a:bodyPr lIns="0" tIns="0" rIns="0" bIns="0" rtlCol="0" anchor="t">
            <a:spAutoFit/>
          </a:bodyPr>
          <a:lstStyle/>
          <a:p>
            <a:pPr algn="l">
              <a:lnSpc>
                <a:spcPts val="1260"/>
              </a:lnSpc>
            </a:pPr>
            <a:r>
              <a:rPr lang="en-US" sz="900" b="1" spc="-2">
                <a:solidFill>
                  <a:srgbClr val="414042"/>
                </a:solidFill>
                <a:latin typeface="Poppins Medium"/>
                <a:ea typeface="Poppins Medium"/>
                <a:cs typeface="Poppins Medium"/>
                <a:sym typeface="Poppins Medium"/>
              </a:rPr>
              <a:t>Conception et Réalisation d’un site web optimisé Géoart’tech</a:t>
            </a:r>
          </a:p>
        </p:txBody>
      </p:sp>
      <p:sp>
        <p:nvSpPr>
          <p:cNvPr id="40" name="TextBox 40"/>
          <p:cNvSpPr txBox="1"/>
          <p:nvPr/>
        </p:nvSpPr>
        <p:spPr>
          <a:xfrm>
            <a:off x="3442255" y="5226250"/>
            <a:ext cx="1621266"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Novembre 2023</a:t>
            </a:r>
          </a:p>
        </p:txBody>
      </p:sp>
      <p:sp>
        <p:nvSpPr>
          <p:cNvPr id="41" name="TextBox 41"/>
          <p:cNvSpPr txBox="1"/>
          <p:nvPr/>
        </p:nvSpPr>
        <p:spPr>
          <a:xfrm>
            <a:off x="3447711" y="6116195"/>
            <a:ext cx="3906863" cy="300990"/>
          </a:xfrm>
          <a:prstGeom prst="rect">
            <a:avLst/>
          </a:prstGeom>
        </p:spPr>
        <p:txBody>
          <a:bodyPr lIns="0" tIns="0" rIns="0" bIns="0" rtlCol="0" anchor="t">
            <a:spAutoFit/>
          </a:bodyPr>
          <a:lstStyle/>
          <a:p>
            <a:pPr algn="l">
              <a:lnSpc>
                <a:spcPts val="1260"/>
              </a:lnSpc>
            </a:pPr>
            <a:r>
              <a:rPr lang="en-US" sz="900" b="1" spc="-2">
                <a:solidFill>
                  <a:srgbClr val="414042"/>
                </a:solidFill>
                <a:latin typeface="Poppins Medium"/>
                <a:ea typeface="Poppins Medium"/>
                <a:cs typeface="Poppins Medium"/>
                <a:sym typeface="Poppins Medium"/>
              </a:rPr>
              <a:t>Mise en place d’une application de vente en ligne des matériels informatique</a:t>
            </a:r>
          </a:p>
        </p:txBody>
      </p:sp>
      <p:sp>
        <p:nvSpPr>
          <p:cNvPr id="42" name="TextBox 42"/>
          <p:cNvSpPr txBox="1"/>
          <p:nvPr/>
        </p:nvSpPr>
        <p:spPr>
          <a:xfrm>
            <a:off x="3442255" y="5853559"/>
            <a:ext cx="1621266"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Juin 2023</a:t>
            </a:r>
          </a:p>
        </p:txBody>
      </p:sp>
      <p:grpSp>
        <p:nvGrpSpPr>
          <p:cNvPr id="43" name="Group 43"/>
          <p:cNvGrpSpPr>
            <a:grpSpLocks noChangeAspect="1"/>
          </p:cNvGrpSpPr>
          <p:nvPr/>
        </p:nvGrpSpPr>
        <p:grpSpPr>
          <a:xfrm>
            <a:off x="3257690" y="6702934"/>
            <a:ext cx="100341" cy="100341"/>
            <a:chOff x="0" y="0"/>
            <a:chExt cx="91491" cy="91491"/>
          </a:xfrm>
        </p:grpSpPr>
        <p:sp>
          <p:nvSpPr>
            <p:cNvPr id="44" name="Freeform 44"/>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grpSp>
        <p:nvGrpSpPr>
          <p:cNvPr id="45" name="Group 45"/>
          <p:cNvGrpSpPr>
            <a:grpSpLocks noChangeAspect="1"/>
          </p:cNvGrpSpPr>
          <p:nvPr/>
        </p:nvGrpSpPr>
        <p:grpSpPr>
          <a:xfrm>
            <a:off x="3239757" y="7506590"/>
            <a:ext cx="100341" cy="100341"/>
            <a:chOff x="0" y="0"/>
            <a:chExt cx="91491" cy="91491"/>
          </a:xfrm>
        </p:grpSpPr>
        <p:sp>
          <p:nvSpPr>
            <p:cNvPr id="46" name="Freeform 46"/>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sp>
        <p:nvSpPr>
          <p:cNvPr id="47" name="TextBox 47"/>
          <p:cNvSpPr txBox="1"/>
          <p:nvPr/>
        </p:nvSpPr>
        <p:spPr>
          <a:xfrm>
            <a:off x="3465644" y="6908421"/>
            <a:ext cx="3906863" cy="300990"/>
          </a:xfrm>
          <a:prstGeom prst="rect">
            <a:avLst/>
          </a:prstGeom>
        </p:spPr>
        <p:txBody>
          <a:bodyPr lIns="0" tIns="0" rIns="0" bIns="0" rtlCol="0" anchor="t">
            <a:spAutoFit/>
          </a:bodyPr>
          <a:lstStyle/>
          <a:p>
            <a:pPr algn="l">
              <a:lnSpc>
                <a:spcPts val="1260"/>
              </a:lnSpc>
            </a:pPr>
            <a:r>
              <a:rPr lang="en-US" sz="900" b="1" spc="-2">
                <a:solidFill>
                  <a:srgbClr val="414042"/>
                </a:solidFill>
                <a:latin typeface="Poppins Medium"/>
                <a:ea typeface="Poppins Medium"/>
                <a:cs typeface="Poppins Medium"/>
                <a:sym typeface="Poppins Medium"/>
              </a:rPr>
              <a:t>Conception et Réalisation d’une application web pour le recensement et impression de badge des employés du MTEFPLS</a:t>
            </a:r>
          </a:p>
        </p:txBody>
      </p:sp>
      <p:sp>
        <p:nvSpPr>
          <p:cNvPr id="48" name="TextBox 48"/>
          <p:cNvSpPr txBox="1"/>
          <p:nvPr/>
        </p:nvSpPr>
        <p:spPr>
          <a:xfrm>
            <a:off x="3460188" y="6645784"/>
            <a:ext cx="1621266"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Aout 2022</a:t>
            </a:r>
          </a:p>
        </p:txBody>
      </p:sp>
      <p:sp>
        <p:nvSpPr>
          <p:cNvPr id="49" name="TextBox 49"/>
          <p:cNvSpPr txBox="1"/>
          <p:nvPr/>
        </p:nvSpPr>
        <p:spPr>
          <a:xfrm>
            <a:off x="3447711" y="7712077"/>
            <a:ext cx="3906863" cy="300990"/>
          </a:xfrm>
          <a:prstGeom prst="rect">
            <a:avLst/>
          </a:prstGeom>
        </p:spPr>
        <p:txBody>
          <a:bodyPr lIns="0" tIns="0" rIns="0" bIns="0" rtlCol="0" anchor="t">
            <a:spAutoFit/>
          </a:bodyPr>
          <a:lstStyle/>
          <a:p>
            <a:pPr algn="l">
              <a:lnSpc>
                <a:spcPts val="1260"/>
              </a:lnSpc>
            </a:pPr>
            <a:r>
              <a:rPr lang="en-US" sz="900" b="1" spc="-2">
                <a:solidFill>
                  <a:srgbClr val="414042"/>
                </a:solidFill>
                <a:latin typeface="Poppins Medium"/>
                <a:ea typeface="Poppins Medium"/>
                <a:cs typeface="Poppins Medium"/>
                <a:sym typeface="Poppins Medium"/>
              </a:rPr>
              <a:t>Conception Réalisation d’une application web pour la gestion de vente MAKI</a:t>
            </a:r>
          </a:p>
        </p:txBody>
      </p:sp>
      <p:sp>
        <p:nvSpPr>
          <p:cNvPr id="50" name="TextBox 50"/>
          <p:cNvSpPr txBox="1"/>
          <p:nvPr/>
        </p:nvSpPr>
        <p:spPr>
          <a:xfrm>
            <a:off x="3442255" y="7449440"/>
            <a:ext cx="1621266"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Avril 2022</a:t>
            </a:r>
          </a:p>
        </p:txBody>
      </p:sp>
      <p:grpSp>
        <p:nvGrpSpPr>
          <p:cNvPr id="51" name="Group 51"/>
          <p:cNvGrpSpPr>
            <a:grpSpLocks noChangeAspect="1"/>
          </p:cNvGrpSpPr>
          <p:nvPr/>
        </p:nvGrpSpPr>
        <p:grpSpPr>
          <a:xfrm>
            <a:off x="3254060" y="4476559"/>
            <a:ext cx="100341" cy="100341"/>
            <a:chOff x="0" y="0"/>
            <a:chExt cx="91491" cy="91491"/>
          </a:xfrm>
        </p:grpSpPr>
        <p:sp>
          <p:nvSpPr>
            <p:cNvPr id="52" name="Freeform 52"/>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sp>
        <p:nvSpPr>
          <p:cNvPr id="53" name="TextBox 53"/>
          <p:cNvSpPr txBox="1"/>
          <p:nvPr/>
        </p:nvSpPr>
        <p:spPr>
          <a:xfrm>
            <a:off x="3462013" y="4682045"/>
            <a:ext cx="3906863" cy="300990"/>
          </a:xfrm>
          <a:prstGeom prst="rect">
            <a:avLst/>
          </a:prstGeom>
        </p:spPr>
        <p:txBody>
          <a:bodyPr lIns="0" tIns="0" rIns="0" bIns="0" rtlCol="0" anchor="t">
            <a:spAutoFit/>
          </a:bodyPr>
          <a:lstStyle/>
          <a:p>
            <a:pPr algn="l">
              <a:lnSpc>
                <a:spcPts val="1260"/>
              </a:lnSpc>
            </a:pPr>
            <a:r>
              <a:rPr lang="en-US" sz="900" b="1" spc="-2">
                <a:solidFill>
                  <a:srgbClr val="414042"/>
                </a:solidFill>
                <a:latin typeface="Poppins Medium"/>
                <a:ea typeface="Poppins Medium"/>
                <a:cs typeface="Poppins Medium"/>
                <a:sym typeface="Poppins Medium"/>
              </a:rPr>
              <a:t>Conception et Réalisation d’une application Web mapping pour la géolocalisation des établissement à Fianarantsoa</a:t>
            </a:r>
          </a:p>
        </p:txBody>
      </p:sp>
      <p:sp>
        <p:nvSpPr>
          <p:cNvPr id="54" name="TextBox 54"/>
          <p:cNvSpPr txBox="1"/>
          <p:nvPr/>
        </p:nvSpPr>
        <p:spPr>
          <a:xfrm>
            <a:off x="3456558" y="4419409"/>
            <a:ext cx="1621266"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Mai 2024</a:t>
            </a:r>
          </a:p>
        </p:txBody>
      </p:sp>
      <p:sp>
        <p:nvSpPr>
          <p:cNvPr id="55" name="TextBox 55"/>
          <p:cNvSpPr txBox="1"/>
          <p:nvPr/>
        </p:nvSpPr>
        <p:spPr>
          <a:xfrm>
            <a:off x="3445188" y="5051776"/>
            <a:ext cx="3797208" cy="135255"/>
          </a:xfrm>
          <a:prstGeom prst="rect">
            <a:avLst/>
          </a:prstGeom>
        </p:spPr>
        <p:txBody>
          <a:bodyPr lIns="0" tIns="0" rIns="0" bIns="0" rtlCol="0" anchor="t">
            <a:spAutoFit/>
          </a:bodyPr>
          <a:lstStyle/>
          <a:p>
            <a:pPr algn="just">
              <a:lnSpc>
                <a:spcPts val="1050"/>
              </a:lnSpc>
            </a:pPr>
            <a:r>
              <a:rPr lang="en-US" sz="700" spc="14">
                <a:solidFill>
                  <a:srgbClr val="737373"/>
                </a:solidFill>
                <a:latin typeface="Poppins Light"/>
                <a:ea typeface="Poppins Light"/>
                <a:cs typeface="Poppins Light"/>
                <a:sym typeface="Poppins Light"/>
              </a:rPr>
              <a:t>Projet individuel au sein de l’établissement</a:t>
            </a:r>
          </a:p>
        </p:txBody>
      </p:sp>
      <p:sp>
        <p:nvSpPr>
          <p:cNvPr id="56" name="TextBox 56"/>
          <p:cNvSpPr txBox="1"/>
          <p:nvPr/>
        </p:nvSpPr>
        <p:spPr>
          <a:xfrm>
            <a:off x="3442255" y="5680203"/>
            <a:ext cx="3797208" cy="135255"/>
          </a:xfrm>
          <a:prstGeom prst="rect">
            <a:avLst/>
          </a:prstGeom>
        </p:spPr>
        <p:txBody>
          <a:bodyPr lIns="0" tIns="0" rIns="0" bIns="0" rtlCol="0" anchor="t">
            <a:spAutoFit/>
          </a:bodyPr>
          <a:lstStyle/>
          <a:p>
            <a:pPr algn="just">
              <a:lnSpc>
                <a:spcPts val="1050"/>
              </a:lnSpc>
            </a:pPr>
            <a:r>
              <a:rPr lang="en-US" sz="700" spc="14">
                <a:solidFill>
                  <a:srgbClr val="737373"/>
                </a:solidFill>
                <a:latin typeface="Poppins Light"/>
                <a:ea typeface="Poppins Light"/>
                <a:cs typeface="Poppins Light"/>
                <a:sym typeface="Poppins Light"/>
              </a:rPr>
              <a:t>Projet de Mini-Mémoire pour le Passage en Master 2</a:t>
            </a:r>
          </a:p>
        </p:txBody>
      </p:sp>
      <p:sp>
        <p:nvSpPr>
          <p:cNvPr id="57" name="TextBox 57"/>
          <p:cNvSpPr txBox="1"/>
          <p:nvPr/>
        </p:nvSpPr>
        <p:spPr>
          <a:xfrm>
            <a:off x="3442255" y="6443854"/>
            <a:ext cx="3797208" cy="135255"/>
          </a:xfrm>
          <a:prstGeom prst="rect">
            <a:avLst/>
          </a:prstGeom>
        </p:spPr>
        <p:txBody>
          <a:bodyPr lIns="0" tIns="0" rIns="0" bIns="0" rtlCol="0" anchor="t">
            <a:spAutoFit/>
          </a:bodyPr>
          <a:lstStyle/>
          <a:p>
            <a:pPr algn="just">
              <a:lnSpc>
                <a:spcPts val="1050"/>
              </a:lnSpc>
            </a:pPr>
            <a:r>
              <a:rPr lang="en-US" sz="700" spc="14">
                <a:solidFill>
                  <a:srgbClr val="737373"/>
                </a:solidFill>
                <a:latin typeface="Poppins Light"/>
                <a:ea typeface="Poppins Light"/>
                <a:cs typeface="Poppins Light"/>
                <a:sym typeface="Poppins Light"/>
              </a:rPr>
              <a:t>Projet individuel au sein de l’établissement</a:t>
            </a:r>
          </a:p>
        </p:txBody>
      </p:sp>
      <p:sp>
        <p:nvSpPr>
          <p:cNvPr id="58" name="TextBox 58"/>
          <p:cNvSpPr txBox="1"/>
          <p:nvPr/>
        </p:nvSpPr>
        <p:spPr>
          <a:xfrm>
            <a:off x="3456558" y="7247510"/>
            <a:ext cx="3797208" cy="135255"/>
          </a:xfrm>
          <a:prstGeom prst="rect">
            <a:avLst/>
          </a:prstGeom>
        </p:spPr>
        <p:txBody>
          <a:bodyPr lIns="0" tIns="0" rIns="0" bIns="0" rtlCol="0" anchor="t">
            <a:spAutoFit/>
          </a:bodyPr>
          <a:lstStyle/>
          <a:p>
            <a:pPr algn="just">
              <a:lnSpc>
                <a:spcPts val="1050"/>
              </a:lnSpc>
            </a:pPr>
            <a:r>
              <a:rPr lang="en-US" sz="700" spc="14">
                <a:solidFill>
                  <a:srgbClr val="737373"/>
                </a:solidFill>
                <a:latin typeface="Poppins Light"/>
                <a:ea typeface="Poppins Light"/>
                <a:cs typeface="Poppins Light"/>
                <a:sym typeface="Poppins Light"/>
              </a:rPr>
              <a:t>Projet de mémoire en vue d’obtention de licence en informatique</a:t>
            </a:r>
          </a:p>
        </p:txBody>
      </p:sp>
      <p:sp>
        <p:nvSpPr>
          <p:cNvPr id="59" name="TextBox 59"/>
          <p:cNvSpPr txBox="1"/>
          <p:nvPr/>
        </p:nvSpPr>
        <p:spPr>
          <a:xfrm>
            <a:off x="3442255" y="8041641"/>
            <a:ext cx="3797208" cy="135255"/>
          </a:xfrm>
          <a:prstGeom prst="rect">
            <a:avLst/>
          </a:prstGeom>
        </p:spPr>
        <p:txBody>
          <a:bodyPr lIns="0" tIns="0" rIns="0" bIns="0" rtlCol="0" anchor="t">
            <a:spAutoFit/>
          </a:bodyPr>
          <a:lstStyle/>
          <a:p>
            <a:pPr algn="just">
              <a:lnSpc>
                <a:spcPts val="1050"/>
              </a:lnSpc>
            </a:pPr>
            <a:r>
              <a:rPr lang="en-US" sz="700" spc="14">
                <a:solidFill>
                  <a:srgbClr val="737373"/>
                </a:solidFill>
                <a:latin typeface="Poppins Light"/>
                <a:ea typeface="Poppins Light"/>
                <a:cs typeface="Poppins Light"/>
                <a:sym typeface="Poppins Light"/>
              </a:rPr>
              <a:t>Projet individuel au sein de l’établissement</a:t>
            </a:r>
          </a:p>
        </p:txBody>
      </p:sp>
      <p:grpSp>
        <p:nvGrpSpPr>
          <p:cNvPr id="60" name="Group 60"/>
          <p:cNvGrpSpPr>
            <a:grpSpLocks noChangeAspect="1"/>
          </p:cNvGrpSpPr>
          <p:nvPr/>
        </p:nvGrpSpPr>
        <p:grpSpPr>
          <a:xfrm>
            <a:off x="3220589" y="8272146"/>
            <a:ext cx="100341" cy="100341"/>
            <a:chOff x="0" y="0"/>
            <a:chExt cx="91491" cy="91491"/>
          </a:xfrm>
        </p:grpSpPr>
        <p:sp>
          <p:nvSpPr>
            <p:cNvPr id="61" name="Freeform 61"/>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sp>
        <p:nvSpPr>
          <p:cNvPr id="62" name="TextBox 62"/>
          <p:cNvSpPr txBox="1"/>
          <p:nvPr/>
        </p:nvSpPr>
        <p:spPr>
          <a:xfrm>
            <a:off x="3428542" y="8477633"/>
            <a:ext cx="3906863" cy="148590"/>
          </a:xfrm>
          <a:prstGeom prst="rect">
            <a:avLst/>
          </a:prstGeom>
        </p:spPr>
        <p:txBody>
          <a:bodyPr lIns="0" tIns="0" rIns="0" bIns="0" rtlCol="0" anchor="t">
            <a:spAutoFit/>
          </a:bodyPr>
          <a:lstStyle/>
          <a:p>
            <a:pPr algn="l">
              <a:lnSpc>
                <a:spcPts val="1260"/>
              </a:lnSpc>
            </a:pPr>
            <a:r>
              <a:rPr lang="en-US" sz="900" b="1" spc="-2">
                <a:solidFill>
                  <a:srgbClr val="414042"/>
                </a:solidFill>
                <a:latin typeface="Poppins Medium"/>
                <a:ea typeface="Poppins Medium"/>
                <a:cs typeface="Poppins Medium"/>
                <a:sym typeface="Poppins Medium"/>
              </a:rPr>
              <a:t>Développement d’une application Chat (Client/Serveur)</a:t>
            </a:r>
          </a:p>
        </p:txBody>
      </p:sp>
      <p:sp>
        <p:nvSpPr>
          <p:cNvPr id="63" name="TextBox 63"/>
          <p:cNvSpPr txBox="1"/>
          <p:nvPr/>
        </p:nvSpPr>
        <p:spPr>
          <a:xfrm>
            <a:off x="3423087" y="8214996"/>
            <a:ext cx="1621266"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Mars 2022</a:t>
            </a:r>
          </a:p>
        </p:txBody>
      </p:sp>
      <p:sp>
        <p:nvSpPr>
          <p:cNvPr id="64" name="TextBox 64"/>
          <p:cNvSpPr txBox="1"/>
          <p:nvPr/>
        </p:nvSpPr>
        <p:spPr>
          <a:xfrm>
            <a:off x="3442255" y="8654797"/>
            <a:ext cx="3797208" cy="135255"/>
          </a:xfrm>
          <a:prstGeom prst="rect">
            <a:avLst/>
          </a:prstGeom>
        </p:spPr>
        <p:txBody>
          <a:bodyPr lIns="0" tIns="0" rIns="0" bIns="0" rtlCol="0" anchor="t">
            <a:spAutoFit/>
          </a:bodyPr>
          <a:lstStyle/>
          <a:p>
            <a:pPr algn="just">
              <a:lnSpc>
                <a:spcPts val="1050"/>
              </a:lnSpc>
            </a:pPr>
            <a:r>
              <a:rPr lang="en-US" sz="700" spc="14">
                <a:solidFill>
                  <a:srgbClr val="737373"/>
                </a:solidFill>
                <a:latin typeface="Poppins Light"/>
                <a:ea typeface="Poppins Light"/>
                <a:cs typeface="Poppins Light"/>
                <a:sym typeface="Poppins Light"/>
              </a:rPr>
              <a:t>Projet individuel au sein de l’établissement</a:t>
            </a:r>
          </a:p>
        </p:txBody>
      </p:sp>
      <p:grpSp>
        <p:nvGrpSpPr>
          <p:cNvPr id="65" name="Group 65"/>
          <p:cNvGrpSpPr>
            <a:grpSpLocks noChangeAspect="1"/>
          </p:cNvGrpSpPr>
          <p:nvPr/>
        </p:nvGrpSpPr>
        <p:grpSpPr>
          <a:xfrm>
            <a:off x="3220589" y="8885303"/>
            <a:ext cx="100341" cy="100341"/>
            <a:chOff x="0" y="0"/>
            <a:chExt cx="91491" cy="91491"/>
          </a:xfrm>
        </p:grpSpPr>
        <p:sp>
          <p:nvSpPr>
            <p:cNvPr id="66" name="Freeform 66"/>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sp>
        <p:nvSpPr>
          <p:cNvPr id="67" name="TextBox 67"/>
          <p:cNvSpPr txBox="1"/>
          <p:nvPr/>
        </p:nvSpPr>
        <p:spPr>
          <a:xfrm>
            <a:off x="3428542" y="9090789"/>
            <a:ext cx="3906863" cy="300990"/>
          </a:xfrm>
          <a:prstGeom prst="rect">
            <a:avLst/>
          </a:prstGeom>
        </p:spPr>
        <p:txBody>
          <a:bodyPr lIns="0" tIns="0" rIns="0" bIns="0" rtlCol="0" anchor="t">
            <a:spAutoFit/>
          </a:bodyPr>
          <a:lstStyle/>
          <a:p>
            <a:pPr algn="l">
              <a:lnSpc>
                <a:spcPts val="1260"/>
              </a:lnSpc>
            </a:pPr>
            <a:r>
              <a:rPr lang="en-US" sz="900" b="1" spc="-2">
                <a:solidFill>
                  <a:srgbClr val="414042"/>
                </a:solidFill>
                <a:latin typeface="Poppins Medium"/>
                <a:ea typeface="Poppins Medium"/>
                <a:cs typeface="Poppins Medium"/>
                <a:sym typeface="Poppins Medium"/>
              </a:rPr>
              <a:t>Conception et réalisation d’une application pour gérer les Kits &amp; les manuels scolaires au niveau de DREN Haute matsiatra</a:t>
            </a:r>
          </a:p>
        </p:txBody>
      </p:sp>
      <p:sp>
        <p:nvSpPr>
          <p:cNvPr id="68" name="TextBox 68"/>
          <p:cNvSpPr txBox="1"/>
          <p:nvPr/>
        </p:nvSpPr>
        <p:spPr>
          <a:xfrm>
            <a:off x="3423087" y="8828153"/>
            <a:ext cx="1621266"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Juin 2021</a:t>
            </a:r>
          </a:p>
        </p:txBody>
      </p:sp>
      <p:sp>
        <p:nvSpPr>
          <p:cNvPr id="69" name="TextBox 69"/>
          <p:cNvSpPr txBox="1"/>
          <p:nvPr/>
        </p:nvSpPr>
        <p:spPr>
          <a:xfrm>
            <a:off x="3423087" y="9420353"/>
            <a:ext cx="3797208" cy="135255"/>
          </a:xfrm>
          <a:prstGeom prst="rect">
            <a:avLst/>
          </a:prstGeom>
        </p:spPr>
        <p:txBody>
          <a:bodyPr lIns="0" tIns="0" rIns="0" bIns="0" rtlCol="0" anchor="t">
            <a:spAutoFit/>
          </a:bodyPr>
          <a:lstStyle/>
          <a:p>
            <a:pPr algn="just">
              <a:lnSpc>
                <a:spcPts val="1050"/>
              </a:lnSpc>
            </a:pPr>
            <a:r>
              <a:rPr lang="en-US" sz="700" spc="14">
                <a:solidFill>
                  <a:srgbClr val="737373"/>
                </a:solidFill>
                <a:latin typeface="Poppins Light"/>
                <a:ea typeface="Poppins Light"/>
                <a:cs typeface="Poppins Light"/>
                <a:sym typeface="Poppins Light"/>
              </a:rPr>
              <a:t>Projet de mémoire pour le passage en Troisième année de licence</a:t>
            </a:r>
          </a:p>
        </p:txBody>
      </p:sp>
      <p:grpSp>
        <p:nvGrpSpPr>
          <p:cNvPr id="70" name="Group 70"/>
          <p:cNvGrpSpPr>
            <a:grpSpLocks noChangeAspect="1"/>
          </p:cNvGrpSpPr>
          <p:nvPr/>
        </p:nvGrpSpPr>
        <p:grpSpPr>
          <a:xfrm>
            <a:off x="3202711" y="9650859"/>
            <a:ext cx="100341" cy="100341"/>
            <a:chOff x="0" y="0"/>
            <a:chExt cx="91491" cy="91491"/>
          </a:xfrm>
        </p:grpSpPr>
        <p:sp>
          <p:nvSpPr>
            <p:cNvPr id="71" name="Freeform 71"/>
            <p:cNvSpPr/>
            <p:nvPr/>
          </p:nvSpPr>
          <p:spPr>
            <a:xfrm>
              <a:off x="0" y="0"/>
              <a:ext cx="91440" cy="91440"/>
            </a:xfrm>
            <a:custGeom>
              <a:avLst/>
              <a:gdLst/>
              <a:ahLst/>
              <a:cxnLst/>
              <a:rect l="l" t="t" r="r" b="b"/>
              <a:pathLst>
                <a:path w="91440" h="91440">
                  <a:moveTo>
                    <a:pt x="91440" y="45720"/>
                  </a:moveTo>
                  <a:cubicBezTo>
                    <a:pt x="91440" y="70993"/>
                    <a:pt x="70993" y="91440"/>
                    <a:pt x="45720" y="91440"/>
                  </a:cubicBezTo>
                  <a:cubicBezTo>
                    <a:pt x="20447" y="91440"/>
                    <a:pt x="0" y="70993"/>
                    <a:pt x="0" y="45720"/>
                  </a:cubicBezTo>
                  <a:cubicBezTo>
                    <a:pt x="0" y="20447"/>
                    <a:pt x="20447" y="0"/>
                    <a:pt x="45720" y="0"/>
                  </a:cubicBezTo>
                  <a:cubicBezTo>
                    <a:pt x="70993" y="0"/>
                    <a:pt x="91440" y="20447"/>
                    <a:pt x="91440" y="45720"/>
                  </a:cubicBezTo>
                </a:path>
              </a:pathLst>
            </a:custGeom>
            <a:solidFill>
              <a:srgbClr val="323B4C"/>
            </a:solidFill>
          </p:spPr>
        </p:sp>
      </p:grpSp>
      <p:sp>
        <p:nvSpPr>
          <p:cNvPr id="72" name="TextBox 72"/>
          <p:cNvSpPr txBox="1"/>
          <p:nvPr/>
        </p:nvSpPr>
        <p:spPr>
          <a:xfrm>
            <a:off x="3410665" y="9856345"/>
            <a:ext cx="3906863" cy="300990"/>
          </a:xfrm>
          <a:prstGeom prst="rect">
            <a:avLst/>
          </a:prstGeom>
        </p:spPr>
        <p:txBody>
          <a:bodyPr lIns="0" tIns="0" rIns="0" bIns="0" rtlCol="0" anchor="t">
            <a:spAutoFit/>
          </a:bodyPr>
          <a:lstStyle/>
          <a:p>
            <a:pPr algn="l">
              <a:lnSpc>
                <a:spcPts val="1260"/>
              </a:lnSpc>
            </a:pPr>
            <a:r>
              <a:rPr lang="en-US" sz="900" b="1" spc="-2">
                <a:solidFill>
                  <a:srgbClr val="414042"/>
                </a:solidFill>
                <a:latin typeface="Poppins Medium"/>
                <a:ea typeface="Poppins Medium"/>
                <a:cs typeface="Poppins Medium"/>
                <a:sym typeface="Poppins Medium"/>
              </a:rPr>
              <a:t>Création d’un logiciel pour la gestion de la coopérative Taxi-Brousse MAMI</a:t>
            </a:r>
          </a:p>
        </p:txBody>
      </p:sp>
      <p:sp>
        <p:nvSpPr>
          <p:cNvPr id="73" name="TextBox 73"/>
          <p:cNvSpPr txBox="1"/>
          <p:nvPr/>
        </p:nvSpPr>
        <p:spPr>
          <a:xfrm>
            <a:off x="3405209" y="9593709"/>
            <a:ext cx="1621266" cy="205486"/>
          </a:xfrm>
          <a:prstGeom prst="rect">
            <a:avLst/>
          </a:prstGeom>
        </p:spPr>
        <p:txBody>
          <a:bodyPr lIns="0" tIns="0" rIns="0" bIns="0" rtlCol="0" anchor="t">
            <a:spAutoFit/>
          </a:bodyPr>
          <a:lstStyle/>
          <a:p>
            <a:pPr algn="just">
              <a:lnSpc>
                <a:spcPts val="1756"/>
              </a:lnSpc>
            </a:pPr>
            <a:r>
              <a:rPr lang="en-US" sz="999" spc="46">
                <a:solidFill>
                  <a:srgbClr val="737373"/>
                </a:solidFill>
                <a:latin typeface="Poppins"/>
                <a:ea typeface="Poppins"/>
                <a:cs typeface="Poppins"/>
                <a:sym typeface="Poppins"/>
              </a:rPr>
              <a:t>Septembre 2019</a:t>
            </a:r>
          </a:p>
        </p:txBody>
      </p:sp>
      <p:sp>
        <p:nvSpPr>
          <p:cNvPr id="74" name="TextBox 74"/>
          <p:cNvSpPr txBox="1"/>
          <p:nvPr/>
        </p:nvSpPr>
        <p:spPr>
          <a:xfrm>
            <a:off x="3405209" y="10185909"/>
            <a:ext cx="3797208" cy="135255"/>
          </a:xfrm>
          <a:prstGeom prst="rect">
            <a:avLst/>
          </a:prstGeom>
        </p:spPr>
        <p:txBody>
          <a:bodyPr lIns="0" tIns="0" rIns="0" bIns="0" rtlCol="0" anchor="t">
            <a:spAutoFit/>
          </a:bodyPr>
          <a:lstStyle/>
          <a:p>
            <a:pPr algn="just">
              <a:lnSpc>
                <a:spcPts val="1050"/>
              </a:lnSpc>
            </a:pPr>
            <a:r>
              <a:rPr lang="en-US" sz="700" spc="14">
                <a:solidFill>
                  <a:srgbClr val="737373"/>
                </a:solidFill>
                <a:latin typeface="Poppins Light"/>
                <a:ea typeface="Poppins Light"/>
                <a:cs typeface="Poppins Light"/>
                <a:sym typeface="Poppins Light"/>
              </a:rPr>
              <a:t>Réalisation d’un projet en équipe au sein de l’établissement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669</Words>
  <Application>Microsoft Office PowerPoint</Application>
  <PresentationFormat>Personnalisé</PresentationFormat>
  <Paragraphs>99</Paragraphs>
  <Slides>2</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vt:i4>
      </vt:variant>
    </vt:vector>
  </HeadingPairs>
  <TitlesOfParts>
    <vt:vector size="10" baseType="lpstr">
      <vt:lpstr>Poppins Bold</vt:lpstr>
      <vt:lpstr>Arial</vt:lpstr>
      <vt:lpstr>Poppins Medium</vt:lpstr>
      <vt:lpstr>Calibri</vt:lpstr>
      <vt:lpstr>Garet</vt:lpstr>
      <vt:lpstr>Poppins Light</vt:lpstr>
      <vt:lpstr>Poppins</vt:lpstr>
      <vt:lpstr>Office Theme</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 full stack</dc:title>
  <cp:lastModifiedBy>SAPERP01</cp:lastModifiedBy>
  <cp:revision>3</cp:revision>
  <dcterms:created xsi:type="dcterms:W3CDTF">2006-08-16T00:00:00Z</dcterms:created>
  <dcterms:modified xsi:type="dcterms:W3CDTF">2025-06-04T18:55:37Z</dcterms:modified>
  <dc:identifier>DAGF9WY7UvM</dc:identifier>
</cp:coreProperties>
</file>